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23"/>
  </p:notesMasterIdLst>
  <p:sldIdLst>
    <p:sldId id="293" r:id="rId3"/>
    <p:sldId id="257" r:id="rId4"/>
    <p:sldId id="258" r:id="rId5"/>
    <p:sldId id="259" r:id="rId6"/>
    <p:sldId id="262" r:id="rId7"/>
    <p:sldId id="263" r:id="rId8"/>
    <p:sldId id="264" r:id="rId9"/>
    <p:sldId id="294" r:id="rId10"/>
    <p:sldId id="267" r:id="rId11"/>
    <p:sldId id="269" r:id="rId12"/>
    <p:sldId id="271" r:id="rId13"/>
    <p:sldId id="273" r:id="rId14"/>
    <p:sldId id="295" r:id="rId15"/>
    <p:sldId id="292" r:id="rId16"/>
    <p:sldId id="296" r:id="rId17"/>
    <p:sldId id="283" r:id="rId18"/>
    <p:sldId id="285" r:id="rId19"/>
    <p:sldId id="287" r:id="rId20"/>
    <p:sldId id="288" r:id="rId21"/>
    <p:sldId id="289" r:id="rId22"/>
  </p:sldIdLst>
  <p:sldSz cx="9144000" cy="5143500" type="screen16x9"/>
  <p:notesSz cx="6858000" cy="9144000"/>
  <p:embeddedFontLst>
    <p:embeddedFont>
      <p:font typeface="Montserrat" pitchFamily="2" charset="77"/>
      <p:regular r:id="rId24"/>
      <p:bold r:id="rId25"/>
      <p:italic r:id="rId26"/>
      <p:boldItalic r:id="rId27"/>
    </p:embeddedFont>
    <p:embeddedFont>
      <p:font typeface="Montserrat ExtraBold" panose="00000900000000000000" pitchFamily="2" charset="7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vctPlhLTbyBTjdYHkJXFARy2V8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rika Yohana Buitrago Zuluaga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8BA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5ECE54-5A6A-4EC5-BCD4-2FE71682391F}">
  <a:tblStyle styleId="{325ECE54-5A6A-4EC5-BCD4-2FE7168239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38"/>
    <p:restoredTop sz="94656"/>
  </p:normalViewPr>
  <p:slideViewPr>
    <p:cSldViewPr snapToGrid="0">
      <p:cViewPr varScale="1">
        <p:scale>
          <a:sx n="137" d="100"/>
          <a:sy n="137" d="100"/>
        </p:scale>
        <p:origin x="43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48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10677285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910677285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106ef11a1_6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9106ef11a1_6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D6485612-E1B2-9B54-88FF-0ABE8274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>
            <a:extLst>
              <a:ext uri="{FF2B5EF4-FFF2-40B4-BE49-F238E27FC236}">
                <a16:creationId xmlns:a16="http://schemas.microsoft.com/office/drawing/2014/main" id="{07DE6977-43EB-5880-5456-2DF7A5572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7:notes">
            <a:extLst>
              <a:ext uri="{FF2B5EF4-FFF2-40B4-BE49-F238E27FC236}">
                <a16:creationId xmlns:a16="http://schemas.microsoft.com/office/drawing/2014/main" id="{C46D6CF1-68CC-0388-4ACB-F5291D615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646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1066d644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391066d644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10c504689_2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3910c504689_2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10c504689_3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910c504689_3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10c504689_3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g3910c504689_3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A8E58E34-3CE6-1EC8-8176-0F1AEDB8F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>
            <a:extLst>
              <a:ext uri="{FF2B5EF4-FFF2-40B4-BE49-F238E27FC236}">
                <a16:creationId xmlns:a16="http://schemas.microsoft.com/office/drawing/2014/main" id="{95AEC83E-8599-4E68-1E5A-36D2AF9A0D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7:notes">
            <a:extLst>
              <a:ext uri="{FF2B5EF4-FFF2-40B4-BE49-F238E27FC236}">
                <a16:creationId xmlns:a16="http://schemas.microsoft.com/office/drawing/2014/main" id="{61540C04-2A7F-C71D-26C1-6CF6E3E168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235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910c504689_3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g3910c504689_3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4F127DB1-C79A-F9AB-F5C4-542DF0939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>
            <a:extLst>
              <a:ext uri="{FF2B5EF4-FFF2-40B4-BE49-F238E27FC236}">
                <a16:creationId xmlns:a16="http://schemas.microsoft.com/office/drawing/2014/main" id="{60598336-B88C-2D7A-E27B-8DC9CFF1A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7:notes">
            <a:extLst>
              <a:ext uri="{FF2B5EF4-FFF2-40B4-BE49-F238E27FC236}">
                <a16:creationId xmlns:a16="http://schemas.microsoft.com/office/drawing/2014/main" id="{0066FE85-F392-6362-CE07-D6D5F9BAB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768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7" name="Google Shape;60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0" name="Google Shape;64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910c504689_3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g3910c504689_3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7" name="Google Shape;69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4" name="Google Shape;70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sz="27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sz="27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sz="27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sz="27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sz="27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sz="27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sz="27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sz="27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07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7255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0104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1940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373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9910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6241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12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4369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56535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4942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22233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3.png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Un grupo de personas sentadas alrededor de una mesa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l="10320" r="23013"/>
          <a:stretch/>
        </p:blipFill>
        <p:spPr>
          <a:xfrm>
            <a:off x="4545756" y="0"/>
            <a:ext cx="4598243" cy="51730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70598" y="948233"/>
            <a:ext cx="4004560" cy="11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>
              <a:buSzPts val="5778"/>
            </a:pPr>
            <a:r>
              <a:rPr lang="es-CO" sz="2800" dirty="0">
                <a:solidFill>
                  <a:srgbClr val="E82D7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Informe final de resultados RLT-CLT</a:t>
            </a:r>
            <a:endParaRPr sz="2700" dirty="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270597" y="2302713"/>
            <a:ext cx="4004559" cy="9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SzPct val="61997"/>
            </a:pPr>
            <a:r>
              <a:rPr lang="es-CO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Entidad Territorial Certificada </a:t>
            </a:r>
            <a:r>
              <a:rPr lang="es-CO" sz="15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Itagüí</a:t>
            </a:r>
            <a:endParaRPr lang="es-CO" sz="1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SzPct val="61997"/>
            </a:pPr>
            <a:endParaRPr lang="es-CO" sz="1642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SzPct val="61997"/>
            </a:pPr>
            <a:r>
              <a:rPr lang="es-CO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Noviembre 2025</a:t>
            </a:r>
          </a:p>
        </p:txBody>
      </p:sp>
      <p:pic>
        <p:nvPicPr>
          <p:cNvPr id="57" name="Google Shape;57;p13" descr="Forma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 l="22940" t="3818"/>
          <a:stretch/>
        </p:blipFill>
        <p:spPr>
          <a:xfrm rot="10800000">
            <a:off x="0" y="3356750"/>
            <a:ext cx="4800075" cy="178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6;p1">
            <a:extLst>
              <a:ext uri="{FF2B5EF4-FFF2-40B4-BE49-F238E27FC236}">
                <a16:creationId xmlns:a16="http://schemas.microsoft.com/office/drawing/2014/main" id="{39C4F17C-23B5-29B5-08D8-DC178921CFC7}"/>
              </a:ext>
            </a:extLst>
          </p:cNvPr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3" name="Google Shape;57;p1" title="Coordinadores horizontal.png">
              <a:extLst>
                <a:ext uri="{FF2B5EF4-FFF2-40B4-BE49-F238E27FC236}">
                  <a16:creationId xmlns:a16="http://schemas.microsoft.com/office/drawing/2014/main" id="{1D42D06A-AF2A-3B4C-85FB-07906D061123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58;p1" title="RLT Horizontal.png">
              <a:extLst>
                <a:ext uri="{FF2B5EF4-FFF2-40B4-BE49-F238E27FC236}">
                  <a16:creationId xmlns:a16="http://schemas.microsoft.com/office/drawing/2014/main" id="{9234A491-2CC6-CBF8-03E0-13C0E475559C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/>
          <p:nvPr/>
        </p:nvSpPr>
        <p:spPr>
          <a:xfrm>
            <a:off x="0" y="-11748"/>
            <a:ext cx="3450866" cy="5155248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704035" y="1860528"/>
            <a:ext cx="191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2720" dirty="0">
                <a:solidFill>
                  <a:srgbClr val="E82D7E"/>
                </a:solidFill>
              </a:rPr>
              <a:t>Agenda</a:t>
            </a:r>
            <a:endParaRPr sz="272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3384223" y="1272618"/>
            <a:ext cx="5537688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7625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es-CO" sz="1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Estado final del sistema de evaluación RLT-CLT</a:t>
            </a:r>
            <a:endParaRPr sz="15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7625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es-CO" sz="1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Caracterización por ETC</a:t>
            </a:r>
            <a:endParaRPr sz="15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7625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es-CO" sz="1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Rúbricas por módulo</a:t>
            </a:r>
            <a:endParaRPr sz="15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7625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es-CO" sz="1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Proyecciones para la sostenibilidad del liderazgo</a:t>
            </a:r>
          </a:p>
          <a:p>
            <a:pPr marL="47625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es-CO" sz="1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Indicadores de satisfacción</a:t>
            </a:r>
          </a:p>
          <a:p>
            <a:pPr marL="47625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es-CO" sz="1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Entrega de los informes finales de evaluación por Directivo</a:t>
            </a:r>
          </a:p>
          <a:p>
            <a:pPr marL="47625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es-CO" sz="1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Comentarios y cierre</a:t>
            </a:r>
            <a:endParaRPr sz="15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" name="Google Shape;66;p2" descr="Forma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51163" y="2571745"/>
            <a:ext cx="2899709" cy="25860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2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68" name="Google Shape;68;p2" title="Coordinadores horizont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2" title="RLT Horizonta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0" name="Google Shape;70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5703" y="3918684"/>
            <a:ext cx="2035743" cy="950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 descr="Forma, Círculo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6602" y="0"/>
            <a:ext cx="4641853" cy="403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 rot="5400000">
            <a:off x="3446768" y="-560915"/>
            <a:ext cx="2279374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>
            <a:spLocks noGrp="1"/>
          </p:cNvSpPr>
          <p:nvPr>
            <p:ph type="ctrTitle" idx="4294967295"/>
          </p:nvPr>
        </p:nvSpPr>
        <p:spPr>
          <a:xfrm>
            <a:off x="273377" y="963200"/>
            <a:ext cx="4468304" cy="135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 dirty="0">
                <a:solidFill>
                  <a:srgbClr val="E82D7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 Estado final </a:t>
            </a:r>
            <a:endParaRPr sz="3000" dirty="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 dirty="0">
                <a:solidFill>
                  <a:srgbClr val="E82D7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 sistema de evaluación RLT y CLT</a:t>
            </a:r>
            <a:endParaRPr sz="3000" dirty="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79" name="Google Shape;79;p3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80" name="Google Shape;80;p3" title="Coordinadores horizonta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3" title="RLT Horizontal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3338884" y="2728751"/>
            <a:ext cx="2228100" cy="1806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88" name="Google Shape;88;p4"/>
          <p:cNvSpPr/>
          <p:nvPr/>
        </p:nvSpPr>
        <p:spPr>
          <a:xfrm>
            <a:off x="3338884" y="811800"/>
            <a:ext cx="2228100" cy="1806600"/>
          </a:xfrm>
          <a:prstGeom prst="roundRect">
            <a:avLst>
              <a:gd name="adj" fmla="val 16667"/>
            </a:avLst>
          </a:prstGeom>
          <a:solidFill>
            <a:srgbClr val="F7F0EB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89" name="Google Shape;89;p4"/>
          <p:cNvSpPr/>
          <p:nvPr/>
        </p:nvSpPr>
        <p:spPr>
          <a:xfrm>
            <a:off x="598813" y="2728751"/>
            <a:ext cx="2228100" cy="1806600"/>
          </a:xfrm>
          <a:prstGeom prst="roundRect">
            <a:avLst>
              <a:gd name="adj" fmla="val 16667"/>
            </a:avLst>
          </a:prstGeom>
          <a:solidFill>
            <a:srgbClr val="F7F0EB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90" name="Google Shape;90;p4"/>
          <p:cNvSpPr/>
          <p:nvPr/>
        </p:nvSpPr>
        <p:spPr>
          <a:xfrm>
            <a:off x="598813" y="811800"/>
            <a:ext cx="2228100" cy="1806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91" name="Google Shape;91;p4"/>
          <p:cNvSpPr/>
          <p:nvPr/>
        </p:nvSpPr>
        <p:spPr>
          <a:xfrm>
            <a:off x="6078956" y="2728751"/>
            <a:ext cx="2228100" cy="1806600"/>
          </a:xfrm>
          <a:prstGeom prst="roundRect">
            <a:avLst>
              <a:gd name="adj" fmla="val 16667"/>
            </a:avLst>
          </a:prstGeom>
          <a:solidFill>
            <a:srgbClr val="F7F0EB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92" name="Google Shape;92;p4"/>
          <p:cNvSpPr/>
          <p:nvPr/>
        </p:nvSpPr>
        <p:spPr>
          <a:xfrm>
            <a:off x="6078956" y="811800"/>
            <a:ext cx="2228100" cy="1806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93" name="Google Shape;93;p4"/>
          <p:cNvSpPr txBox="1"/>
          <p:nvPr/>
        </p:nvSpPr>
        <p:spPr>
          <a:xfrm>
            <a:off x="3381037" y="1007354"/>
            <a:ext cx="2158200" cy="1405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2. Encuesta 360 ponderada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Aplicación y entrega de reportes de </a:t>
            </a:r>
            <a:r>
              <a:rPr lang="es-CO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encuestas 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360 – Línea de base y salida.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2294855" y="104450"/>
            <a:ext cx="657036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Estado final sistema de evaluación RLT y CLT    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598813" y="1110057"/>
            <a:ext cx="2228100" cy="121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1. Información </a:t>
            </a:r>
            <a:endParaRPr sz="11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básica por rector y IE </a:t>
            </a:r>
            <a:endParaRPr sz="11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fichas diligenciadas para el proceso de caracterización del equipo y de sus IE. 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6167077" y="1019087"/>
            <a:ext cx="2228100" cy="1405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3. Rúbricas por módulo</a:t>
            </a:r>
            <a:endParaRPr sz="11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Diligenciamiento de </a:t>
            </a:r>
            <a:r>
              <a:rPr lang="es-CO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rúbricas por módulo, evidenciando avances en los procesos y productos evaluados en el programa. 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614211" y="2721663"/>
            <a:ext cx="2228100" cy="191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6. Encuestas de satisfacción</a:t>
            </a:r>
            <a:endParaRPr sz="12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Aplicación de </a:t>
            </a:r>
            <a:r>
              <a:rPr lang="es-CO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 </a:t>
            </a:r>
            <a:r>
              <a:rPr lang="es-C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encuestas de satisfacción de cada intensivo y de cada interludio.  Con los resultados se identificaron valores agregados para los participantes y aspectos de mejora.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3381037" y="2757058"/>
            <a:ext cx="2158200" cy="1848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5. Encuesta de </a:t>
            </a:r>
            <a:endParaRPr sz="10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ambiente escolar</a:t>
            </a:r>
            <a:endParaRPr sz="10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Aplicación y entrega de resultados de </a:t>
            </a:r>
            <a:r>
              <a:rPr lang="es-CO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lang="es-C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IE, cuyos rectores participaron del programa. Los participantes fueron: estudiantes, docentes 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 acudientes (Muestra mínima de 75 aplicaciones por IE).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6105710" y="2880938"/>
            <a:ext cx="22281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4. Informe equipo local</a:t>
            </a:r>
            <a:endParaRPr sz="11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Diligenciamiento de </a:t>
            </a:r>
            <a:r>
              <a:rPr lang="es-CO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informes del equipo local, que contienen de manera sistemática los avances 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 retos de los rectores 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 cada módulo.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" name="Google Shape;100;p4" descr="Forma, Círcul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t="5749" r="12526"/>
          <a:stretch/>
        </p:blipFill>
        <p:spPr>
          <a:xfrm rot="10800000">
            <a:off x="3187" y="3827281"/>
            <a:ext cx="1316566" cy="13162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4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102" name="Google Shape;102;p4" title="Coordinadores horizont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4" title="RLT Horizonta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4" name="Google Shape;104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7597125" y="106350"/>
            <a:ext cx="14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06" name="Google Shape;106;p4"/>
          <p:cNvCxnSpPr>
            <a:cxnSpLocks/>
            <a:stCxn id="95" idx="3"/>
            <a:endCxn id="93" idx="1"/>
          </p:cNvCxnSpPr>
          <p:nvPr/>
        </p:nvCxnSpPr>
        <p:spPr>
          <a:xfrm flipV="1">
            <a:off x="2826913" y="1710224"/>
            <a:ext cx="554124" cy="5368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07" name="Google Shape;107;p4"/>
          <p:cNvCxnSpPr>
            <a:stCxn id="93" idx="3"/>
            <a:endCxn id="96" idx="1"/>
          </p:cNvCxnSpPr>
          <p:nvPr/>
        </p:nvCxnSpPr>
        <p:spPr>
          <a:xfrm>
            <a:off x="5539237" y="1710224"/>
            <a:ext cx="627840" cy="11733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08" name="Google Shape;108;p4"/>
          <p:cNvCxnSpPr>
            <a:stCxn id="96" idx="3"/>
            <a:endCxn id="99" idx="3"/>
          </p:cNvCxnSpPr>
          <p:nvPr/>
        </p:nvCxnSpPr>
        <p:spPr>
          <a:xfrm flipH="1">
            <a:off x="8333810" y="1721957"/>
            <a:ext cx="61367" cy="1959185"/>
          </a:xfrm>
          <a:prstGeom prst="bentConnector3">
            <a:avLst>
              <a:gd name="adj1" fmla="val -372513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09" name="Google Shape;109;p4"/>
          <p:cNvCxnSpPr>
            <a:stCxn id="99" idx="1"/>
            <a:endCxn id="98" idx="3"/>
          </p:cNvCxnSpPr>
          <p:nvPr/>
        </p:nvCxnSpPr>
        <p:spPr>
          <a:xfrm flipH="1">
            <a:off x="5539237" y="3681142"/>
            <a:ext cx="566473" cy="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10" name="Google Shape;110;p4"/>
          <p:cNvCxnSpPr>
            <a:stCxn id="98" idx="1"/>
            <a:endCxn id="97" idx="3"/>
          </p:cNvCxnSpPr>
          <p:nvPr/>
        </p:nvCxnSpPr>
        <p:spPr>
          <a:xfrm flipH="1">
            <a:off x="2842311" y="3681142"/>
            <a:ext cx="538726" cy="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5703" y="3918684"/>
            <a:ext cx="2035743" cy="950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7" descr="Forma, Círculo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6602" y="0"/>
            <a:ext cx="4641853" cy="403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 rot="5400000">
            <a:off x="3446768" y="-560915"/>
            <a:ext cx="2279374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ctrTitle" idx="4294967295"/>
          </p:nvPr>
        </p:nvSpPr>
        <p:spPr>
          <a:xfrm>
            <a:off x="367301" y="1140699"/>
            <a:ext cx="4874001" cy="10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 dirty="0">
                <a:solidFill>
                  <a:srgbClr val="E82D7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2. Caracterización de los </a:t>
            </a:r>
            <a:br>
              <a:rPr lang="es-CO" sz="3000" dirty="0">
                <a:solidFill>
                  <a:srgbClr val="E82D7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es-CO" sz="3000" dirty="0">
                <a:solidFill>
                  <a:srgbClr val="E82D7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Directivos Docentes </a:t>
            </a:r>
            <a:endParaRPr sz="3000" dirty="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33" name="Google Shape;133;p7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134" name="Google Shape;134;p7" title="Coordinadores horizonta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7" title="RLT Horizontal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6" name="Google Shape;136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 txBox="1"/>
          <p:nvPr/>
        </p:nvSpPr>
        <p:spPr>
          <a:xfrm>
            <a:off x="7597125" y="106350"/>
            <a:ext cx="14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/>
          <p:nvPr/>
        </p:nvSpPr>
        <p:spPr>
          <a:xfrm rot="5400000">
            <a:off x="3799350" y="-185700"/>
            <a:ext cx="1545300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7540975" y="149888"/>
            <a:ext cx="1509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 dirty="0">
                <a:solidFill>
                  <a:srgbClr val="E82D7E"/>
                </a:solidFill>
                <a:latin typeface="Montserrat ExtraBold"/>
                <a:ea typeface="Montserrat ExtraBold"/>
                <a:cs typeface="Montserrat ExtraBold"/>
                <a:sym typeface="Montserrat ExtraBold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Itagüí</a:t>
            </a:r>
            <a:endParaRPr sz="3000" dirty="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3591040" y="1548263"/>
            <a:ext cx="380400" cy="10905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145" name="Google Shape;145;p10"/>
          <p:cNvSpPr txBox="1"/>
          <p:nvPr/>
        </p:nvSpPr>
        <p:spPr>
          <a:xfrm>
            <a:off x="3381083" y="2619858"/>
            <a:ext cx="7842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Estatuto</a:t>
            </a:r>
            <a:endParaRPr sz="9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1278</a:t>
            </a: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4524122" y="2239467"/>
            <a:ext cx="380400" cy="3516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147" name="Google Shape;147;p10"/>
          <p:cNvSpPr txBox="1"/>
          <p:nvPr/>
        </p:nvSpPr>
        <p:spPr>
          <a:xfrm>
            <a:off x="4246461" y="2628838"/>
            <a:ext cx="7842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Estatuto</a:t>
            </a:r>
            <a:endParaRPr sz="9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2277</a:t>
            </a: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1263570" y="1555151"/>
            <a:ext cx="380400" cy="10905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149" name="Google Shape;149;p10"/>
          <p:cNvSpPr txBox="1"/>
          <p:nvPr/>
        </p:nvSpPr>
        <p:spPr>
          <a:xfrm>
            <a:off x="1049170" y="2724586"/>
            <a:ext cx="784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Maestría</a:t>
            </a: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-18514" y="2733515"/>
            <a:ext cx="1108638" cy="34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Especialización</a:t>
            </a:r>
            <a:endParaRPr lang="es-CO"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382894" y="2222189"/>
            <a:ext cx="380400" cy="4362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152" name="Google Shape;152;p10"/>
          <p:cNvSpPr/>
          <p:nvPr/>
        </p:nvSpPr>
        <p:spPr>
          <a:xfrm>
            <a:off x="2055703" y="2447954"/>
            <a:ext cx="380400" cy="20970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153" name="Google Shape;153;p10"/>
          <p:cNvSpPr txBox="1"/>
          <p:nvPr/>
        </p:nvSpPr>
        <p:spPr>
          <a:xfrm>
            <a:off x="1832964" y="2733369"/>
            <a:ext cx="850500" cy="34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Doctorado</a:t>
            </a: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6742895" y="2124698"/>
            <a:ext cx="380400" cy="4713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157" name="Google Shape;157;p10"/>
          <p:cNvSpPr/>
          <p:nvPr/>
        </p:nvSpPr>
        <p:spPr>
          <a:xfrm>
            <a:off x="7514179" y="2124699"/>
            <a:ext cx="380400" cy="453908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159" name="Google Shape;159;p10"/>
          <p:cNvSpPr txBox="1"/>
          <p:nvPr/>
        </p:nvSpPr>
        <p:spPr>
          <a:xfrm>
            <a:off x="6540990" y="2654123"/>
            <a:ext cx="784200" cy="34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40-50</a:t>
            </a: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7312267" y="2654123"/>
            <a:ext cx="784200" cy="34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56-60</a:t>
            </a: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2" name="Google Shape;162;p10"/>
          <p:cNvGrpSpPr/>
          <p:nvPr/>
        </p:nvGrpSpPr>
        <p:grpSpPr>
          <a:xfrm>
            <a:off x="7058589" y="770187"/>
            <a:ext cx="482386" cy="482386"/>
            <a:chOff x="6749475" y="2417650"/>
            <a:chExt cx="727800" cy="727800"/>
          </a:xfrm>
        </p:grpSpPr>
        <p:sp>
          <p:nvSpPr>
            <p:cNvPr id="163" name="Google Shape;163;p10"/>
            <p:cNvSpPr/>
            <p:nvPr/>
          </p:nvSpPr>
          <p:spPr>
            <a:xfrm>
              <a:off x="6749475" y="2417650"/>
              <a:ext cx="727800" cy="727800"/>
            </a:xfrm>
            <a:prstGeom prst="ellipse">
              <a:avLst/>
            </a:prstGeom>
            <a:solidFill>
              <a:srgbClr val="E82D7E"/>
            </a:solidFill>
            <a:ln>
              <a:noFill/>
            </a:ln>
          </p:spPr>
          <p:txBody>
            <a:bodyPr spcFirstLastPara="1" wrap="square" lIns="60600" tIns="60600" rIns="60600" bIns="60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27"/>
            </a:p>
          </p:txBody>
        </p:sp>
        <p:pic>
          <p:nvPicPr>
            <p:cNvPr id="164" name="Google Shape;164;p10" title="edad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87663" y="2572771"/>
              <a:ext cx="451425" cy="4175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10"/>
          <p:cNvGrpSpPr/>
          <p:nvPr/>
        </p:nvGrpSpPr>
        <p:grpSpPr>
          <a:xfrm>
            <a:off x="4134288" y="796388"/>
            <a:ext cx="482386" cy="482386"/>
            <a:chOff x="894825" y="2417650"/>
            <a:chExt cx="727800" cy="727800"/>
          </a:xfrm>
        </p:grpSpPr>
        <p:sp>
          <p:nvSpPr>
            <p:cNvPr id="166" name="Google Shape;166;p10"/>
            <p:cNvSpPr/>
            <p:nvPr/>
          </p:nvSpPr>
          <p:spPr>
            <a:xfrm>
              <a:off x="894825" y="2417650"/>
              <a:ext cx="727800" cy="727800"/>
            </a:xfrm>
            <a:prstGeom prst="ellipse">
              <a:avLst/>
            </a:prstGeom>
            <a:solidFill>
              <a:srgbClr val="E82D7E"/>
            </a:solidFill>
            <a:ln>
              <a:noFill/>
            </a:ln>
          </p:spPr>
          <p:txBody>
            <a:bodyPr spcFirstLastPara="1" wrap="square" lIns="60600" tIns="60600" rIns="60600" bIns="60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27"/>
            </a:p>
          </p:txBody>
        </p:sp>
        <p:pic>
          <p:nvPicPr>
            <p:cNvPr id="167" name="Google Shape;167;p10" title="estatus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33013" y="2554675"/>
              <a:ext cx="451435" cy="453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0"/>
          <p:cNvGrpSpPr/>
          <p:nvPr/>
        </p:nvGrpSpPr>
        <p:grpSpPr>
          <a:xfrm>
            <a:off x="1212607" y="770187"/>
            <a:ext cx="482386" cy="482386"/>
            <a:chOff x="3834338" y="2417650"/>
            <a:chExt cx="727800" cy="727800"/>
          </a:xfrm>
        </p:grpSpPr>
        <p:sp>
          <p:nvSpPr>
            <p:cNvPr id="169" name="Google Shape;169;p10"/>
            <p:cNvSpPr/>
            <p:nvPr/>
          </p:nvSpPr>
          <p:spPr>
            <a:xfrm>
              <a:off x="3834338" y="2417650"/>
              <a:ext cx="727800" cy="727800"/>
            </a:xfrm>
            <a:prstGeom prst="ellipse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60600" tIns="60600" rIns="60600" bIns="60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27"/>
            </a:p>
          </p:txBody>
        </p:sp>
        <p:pic>
          <p:nvPicPr>
            <p:cNvPr id="170" name="Google Shape;170;p10" title="estudio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72513" y="2554675"/>
              <a:ext cx="451426" cy="453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0"/>
          <p:cNvSpPr txBox="1"/>
          <p:nvPr/>
        </p:nvSpPr>
        <p:spPr>
          <a:xfrm>
            <a:off x="3757555" y="3057280"/>
            <a:ext cx="8505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Estatuto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709599" y="3034357"/>
            <a:ext cx="1382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Nivel educativo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6619986" y="3069215"/>
            <a:ext cx="1382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Rango de edad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142581" y="3688776"/>
            <a:ext cx="7883686" cy="136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CO" sz="1100" dirty="0">
                <a:solidFill>
                  <a:schemeClr val="dk1"/>
                </a:solidFill>
                <a:latin typeface="Montserrat"/>
              </a:rPr>
              <a:t>En Itagüí, el grupo se caracteriza por su </a:t>
            </a:r>
            <a:r>
              <a:rPr lang="es-CO" sz="1100" b="1" dirty="0">
                <a:solidFill>
                  <a:schemeClr val="dk1"/>
                </a:solidFill>
                <a:latin typeface="Montserrat"/>
              </a:rPr>
              <a:t>amplia trayectoria profesional y un alto nivel de formación avanzada</a:t>
            </a:r>
            <a:r>
              <a:rPr lang="es-CO" sz="1100" dirty="0">
                <a:solidFill>
                  <a:schemeClr val="dk1"/>
                </a:solidFill>
                <a:latin typeface="Montserrat"/>
              </a:rPr>
              <a:t>. La mayoría cuenta con posgrados de maestría y una con formación doctoral, lo que refleja un capital académico sólido para liderar procesos de transformación escolar.</a:t>
            </a:r>
          </a:p>
          <a:p>
            <a:pPr algn="just"/>
            <a:r>
              <a:rPr lang="es-CO" sz="1100" dirty="0">
                <a:solidFill>
                  <a:schemeClr val="dk1"/>
                </a:solidFill>
                <a:latin typeface="Montserrat"/>
              </a:rPr>
              <a:t>Predomina la </a:t>
            </a:r>
            <a:r>
              <a:rPr lang="es-CO" sz="1100" b="1" dirty="0">
                <a:solidFill>
                  <a:schemeClr val="dk1"/>
                </a:solidFill>
                <a:latin typeface="Montserrat"/>
              </a:rPr>
              <a:t>vinculación bajo el Estatuto 1278</a:t>
            </a:r>
            <a:r>
              <a:rPr lang="es-CO" sz="1100" dirty="0">
                <a:solidFill>
                  <a:schemeClr val="dk1"/>
                </a:solidFill>
                <a:latin typeface="Montserrat"/>
              </a:rPr>
              <a:t>, con presencia mayoritaria de directivos en propiedad, lo que favorece la continuidad de los procesos institucionales. Se trata, además, de un equipo con experiencia acumulada: el rango etario se encuentra entre 40 y 60 años, una etapa de madurez profesional que aporta criterio y estabilidad al liderazgo escolar del municipio.</a:t>
            </a:r>
          </a:p>
        </p:txBody>
      </p:sp>
      <p:cxnSp>
        <p:nvCxnSpPr>
          <p:cNvPr id="175" name="Google Shape;175;p10"/>
          <p:cNvCxnSpPr/>
          <p:nvPr/>
        </p:nvCxnSpPr>
        <p:spPr>
          <a:xfrm>
            <a:off x="2910043" y="575725"/>
            <a:ext cx="0" cy="28902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176" name="Google Shape;176;p10"/>
          <p:cNvCxnSpPr/>
          <p:nvPr/>
        </p:nvCxnSpPr>
        <p:spPr>
          <a:xfrm>
            <a:off x="5550450" y="575725"/>
            <a:ext cx="0" cy="28902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diamond" w="med" len="med"/>
            <a:tailEnd type="diamond" w="med" len="med"/>
          </a:ln>
        </p:spPr>
      </p:cxnSp>
      <p:grpSp>
        <p:nvGrpSpPr>
          <p:cNvPr id="177" name="Google Shape;177;p10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178" name="Google Shape;178;p10" title="Coordinadores horizontal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0" title="RLT Horizontal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0" name="Google Shape;180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6;p18">
            <a:extLst>
              <a:ext uri="{FF2B5EF4-FFF2-40B4-BE49-F238E27FC236}">
                <a16:creationId xmlns:a16="http://schemas.microsoft.com/office/drawing/2014/main" id="{D2CA8470-0ABD-3887-CF5D-12AD866F6D7B}"/>
              </a:ext>
            </a:extLst>
          </p:cNvPr>
          <p:cNvSpPr txBox="1"/>
          <p:nvPr/>
        </p:nvSpPr>
        <p:spPr>
          <a:xfrm>
            <a:off x="391235" y="2206925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" name="Google Shape;156;p18">
            <a:extLst>
              <a:ext uri="{FF2B5EF4-FFF2-40B4-BE49-F238E27FC236}">
                <a16:creationId xmlns:a16="http://schemas.microsoft.com/office/drawing/2014/main" id="{68C3E900-E3CC-F092-AF4C-30AACD2FB455}"/>
              </a:ext>
            </a:extLst>
          </p:cNvPr>
          <p:cNvSpPr txBox="1"/>
          <p:nvPr/>
        </p:nvSpPr>
        <p:spPr>
          <a:xfrm>
            <a:off x="1263570" y="1555151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" name="Google Shape;156;p18">
            <a:extLst>
              <a:ext uri="{FF2B5EF4-FFF2-40B4-BE49-F238E27FC236}">
                <a16:creationId xmlns:a16="http://schemas.microsoft.com/office/drawing/2014/main" id="{7F8C72F7-0BC7-146E-81D2-BB581CA2EE83}"/>
              </a:ext>
            </a:extLst>
          </p:cNvPr>
          <p:cNvSpPr txBox="1"/>
          <p:nvPr/>
        </p:nvSpPr>
        <p:spPr>
          <a:xfrm>
            <a:off x="2059608" y="2371762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" name="Google Shape;156;p18">
            <a:extLst>
              <a:ext uri="{FF2B5EF4-FFF2-40B4-BE49-F238E27FC236}">
                <a16:creationId xmlns:a16="http://schemas.microsoft.com/office/drawing/2014/main" id="{99320EC2-8216-D0CF-36BA-C8980C508241}"/>
              </a:ext>
            </a:extLst>
          </p:cNvPr>
          <p:cNvSpPr txBox="1"/>
          <p:nvPr/>
        </p:nvSpPr>
        <p:spPr>
          <a:xfrm>
            <a:off x="3593700" y="1548263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6" name="Google Shape;156;p18">
            <a:extLst>
              <a:ext uri="{FF2B5EF4-FFF2-40B4-BE49-F238E27FC236}">
                <a16:creationId xmlns:a16="http://schemas.microsoft.com/office/drawing/2014/main" id="{949276C4-5E2D-54E3-3FC6-BD811702B7C5}"/>
              </a:ext>
            </a:extLst>
          </p:cNvPr>
          <p:cNvSpPr txBox="1"/>
          <p:nvPr/>
        </p:nvSpPr>
        <p:spPr>
          <a:xfrm>
            <a:off x="4524122" y="2206924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" name="Google Shape;156;p18">
            <a:extLst>
              <a:ext uri="{FF2B5EF4-FFF2-40B4-BE49-F238E27FC236}">
                <a16:creationId xmlns:a16="http://schemas.microsoft.com/office/drawing/2014/main" id="{B77304A9-EE43-234E-5723-641439EABE01}"/>
              </a:ext>
            </a:extLst>
          </p:cNvPr>
          <p:cNvSpPr txBox="1"/>
          <p:nvPr/>
        </p:nvSpPr>
        <p:spPr>
          <a:xfrm>
            <a:off x="6750657" y="2093513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" name="Google Shape;156;p18">
            <a:extLst>
              <a:ext uri="{FF2B5EF4-FFF2-40B4-BE49-F238E27FC236}">
                <a16:creationId xmlns:a16="http://schemas.microsoft.com/office/drawing/2014/main" id="{F4A223A8-9D54-238B-E397-202F0A5F2F4B}"/>
              </a:ext>
            </a:extLst>
          </p:cNvPr>
          <p:cNvSpPr txBox="1"/>
          <p:nvPr/>
        </p:nvSpPr>
        <p:spPr>
          <a:xfrm>
            <a:off x="7514167" y="2096073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106ef11a1_61_2"/>
          <p:cNvSpPr/>
          <p:nvPr/>
        </p:nvSpPr>
        <p:spPr>
          <a:xfrm>
            <a:off x="5191652" y="2231342"/>
            <a:ext cx="2869800" cy="3852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9106ef11a1_61_2"/>
          <p:cNvSpPr/>
          <p:nvPr/>
        </p:nvSpPr>
        <p:spPr>
          <a:xfrm rot="-5400000" flipH="1">
            <a:off x="-293550" y="293550"/>
            <a:ext cx="5152800" cy="45657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6" name="Google Shape;186;g39106ef11a1_61_2"/>
          <p:cNvGraphicFramePr/>
          <p:nvPr>
            <p:extLst>
              <p:ext uri="{D42A27DB-BD31-4B8C-83A1-F6EECF244321}">
                <p14:modId xmlns:p14="http://schemas.microsoft.com/office/powerpoint/2010/main" val="3917841359"/>
              </p:ext>
            </p:extLst>
          </p:nvPr>
        </p:nvGraphicFramePr>
        <p:xfrm>
          <a:off x="5227762" y="3377518"/>
          <a:ext cx="2633779" cy="1463100"/>
        </p:xfrm>
        <a:graphic>
          <a:graphicData uri="http://schemas.openxmlformats.org/drawingml/2006/table">
            <a:tbl>
              <a:tblPr>
                <a:noFill/>
                <a:tableStyleId>{325ECE54-5A6A-4EC5-BCD4-2FE71682391F}</a:tableStyleId>
              </a:tblPr>
              <a:tblGrid>
                <a:gridCol w="1017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9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Jornada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Número de IE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9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Mañana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Tarde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9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Única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9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Noche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Sabatina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9" name="Google Shape;189;g39106ef11a1_61_2"/>
          <p:cNvSpPr txBox="1"/>
          <p:nvPr/>
        </p:nvSpPr>
        <p:spPr>
          <a:xfrm>
            <a:off x="7329367" y="2229406"/>
            <a:ext cx="69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g39106ef11a1_61_2"/>
          <p:cNvSpPr txBox="1"/>
          <p:nvPr/>
        </p:nvSpPr>
        <p:spPr>
          <a:xfrm>
            <a:off x="5989169" y="2821870"/>
            <a:ext cx="74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urbana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9106ef11a1_61_2"/>
          <p:cNvSpPr txBox="1"/>
          <p:nvPr/>
        </p:nvSpPr>
        <p:spPr>
          <a:xfrm>
            <a:off x="7404386" y="2793767"/>
            <a:ext cx="52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Rural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3" name="Google Shape;193;g39106ef11a1_61_2"/>
          <p:cNvCxnSpPr>
            <a:cxnSpLocks/>
          </p:cNvCxnSpPr>
          <p:nvPr/>
        </p:nvCxnSpPr>
        <p:spPr>
          <a:xfrm>
            <a:off x="6317151" y="2658849"/>
            <a:ext cx="4876" cy="213261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4" name="Google Shape;194;g39106ef11a1_61_2"/>
          <p:cNvCxnSpPr>
            <a:stCxn id="189" idx="2"/>
            <a:endCxn id="192" idx="0"/>
          </p:cNvCxnSpPr>
          <p:nvPr/>
        </p:nvCxnSpPr>
        <p:spPr>
          <a:xfrm flipH="1">
            <a:off x="7668836" y="2598706"/>
            <a:ext cx="8981" cy="195061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95" name="Google Shape;195;g39106ef11a1_61_2"/>
          <p:cNvSpPr txBox="1"/>
          <p:nvPr/>
        </p:nvSpPr>
        <p:spPr>
          <a:xfrm>
            <a:off x="5119721" y="1900600"/>
            <a:ext cx="294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IE por zonas</a:t>
            </a:r>
            <a:endParaRPr sz="12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g39106ef11a1_61_2"/>
          <p:cNvSpPr txBox="1"/>
          <p:nvPr/>
        </p:nvSpPr>
        <p:spPr>
          <a:xfrm>
            <a:off x="5242290" y="641254"/>
            <a:ext cx="69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12.5%</a:t>
            </a:r>
            <a:endParaRPr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39106ef11a1_61_2"/>
          <p:cNvSpPr/>
          <p:nvPr/>
        </p:nvSpPr>
        <p:spPr>
          <a:xfrm>
            <a:off x="6963089" y="641254"/>
            <a:ext cx="1111375" cy="3693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9106ef11a1_61_2"/>
          <p:cNvSpPr/>
          <p:nvPr/>
        </p:nvSpPr>
        <p:spPr>
          <a:xfrm>
            <a:off x="5989169" y="641254"/>
            <a:ext cx="1087476" cy="369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9106ef11a1_61_2"/>
          <p:cNvSpPr/>
          <p:nvPr/>
        </p:nvSpPr>
        <p:spPr>
          <a:xfrm>
            <a:off x="5217689" y="633304"/>
            <a:ext cx="961799" cy="3852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9106ef11a1_61_2"/>
          <p:cNvSpPr txBox="1"/>
          <p:nvPr/>
        </p:nvSpPr>
        <p:spPr>
          <a:xfrm>
            <a:off x="5162050" y="1046769"/>
            <a:ext cx="961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Ninguno (1)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g39106ef11a1_61_2"/>
          <p:cNvSpPr txBox="1"/>
          <p:nvPr/>
        </p:nvSpPr>
        <p:spPr>
          <a:xfrm>
            <a:off x="5793152" y="1215882"/>
            <a:ext cx="168565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Afrodescendientes (2)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g39106ef11a1_61_2"/>
          <p:cNvSpPr txBox="1"/>
          <p:nvPr/>
        </p:nvSpPr>
        <p:spPr>
          <a:xfrm>
            <a:off x="6735269" y="1429374"/>
            <a:ext cx="15807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Afrodescendientes e indígenas  (3)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g39106ef11a1_61_2"/>
          <p:cNvSpPr txBox="1"/>
          <p:nvPr/>
        </p:nvSpPr>
        <p:spPr>
          <a:xfrm>
            <a:off x="5119729" y="294600"/>
            <a:ext cx="294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Distribución grupos étnicos</a:t>
            </a:r>
            <a:endParaRPr sz="12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4" name="Google Shape;204;g39106ef11a1_61_2"/>
          <p:cNvCxnSpPr>
            <a:cxnSpLocks/>
            <a:stCxn id="208" idx="2"/>
            <a:endCxn id="201" idx="0"/>
          </p:cNvCxnSpPr>
          <p:nvPr/>
        </p:nvCxnSpPr>
        <p:spPr>
          <a:xfrm>
            <a:off x="6633421" y="990349"/>
            <a:ext cx="2556" cy="225533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05" name="Google Shape;205;g39106ef11a1_61_2"/>
          <p:cNvCxnSpPr>
            <a:cxnSpLocks/>
            <a:stCxn id="202" idx="0"/>
            <a:endCxn id="197" idx="2"/>
          </p:cNvCxnSpPr>
          <p:nvPr/>
        </p:nvCxnSpPr>
        <p:spPr>
          <a:xfrm flipH="1" flipV="1">
            <a:off x="7518777" y="1010554"/>
            <a:ext cx="6842" cy="41882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06" name="Google Shape;206;g39106ef11a1_61_2"/>
          <p:cNvCxnSpPr>
            <a:cxnSpLocks/>
          </p:cNvCxnSpPr>
          <p:nvPr/>
        </p:nvCxnSpPr>
        <p:spPr>
          <a:xfrm flipV="1">
            <a:off x="5657731" y="922883"/>
            <a:ext cx="697" cy="192698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07" name="Google Shape;207;g39106ef11a1_61_2"/>
          <p:cNvSpPr txBox="1"/>
          <p:nvPr/>
        </p:nvSpPr>
        <p:spPr>
          <a:xfrm>
            <a:off x="7270851" y="641254"/>
            <a:ext cx="69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37.5%</a:t>
            </a:r>
            <a:endParaRPr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g39106ef11a1_61_2"/>
          <p:cNvSpPr txBox="1"/>
          <p:nvPr/>
        </p:nvSpPr>
        <p:spPr>
          <a:xfrm>
            <a:off x="6280569" y="621049"/>
            <a:ext cx="705703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g39106ef11a1_61_2"/>
          <p:cNvSpPr txBox="1"/>
          <p:nvPr/>
        </p:nvSpPr>
        <p:spPr>
          <a:xfrm>
            <a:off x="5380036" y="631310"/>
            <a:ext cx="646808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37.5%</a:t>
            </a:r>
            <a:endParaRPr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g39106ef11a1_61_2"/>
          <p:cNvSpPr/>
          <p:nvPr/>
        </p:nvSpPr>
        <p:spPr>
          <a:xfrm>
            <a:off x="1655150" y="1032018"/>
            <a:ext cx="1769100" cy="2586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9106ef11a1_61_2"/>
          <p:cNvSpPr/>
          <p:nvPr/>
        </p:nvSpPr>
        <p:spPr>
          <a:xfrm>
            <a:off x="1655150" y="1340579"/>
            <a:ext cx="1769100" cy="2586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9106ef11a1_61_2"/>
          <p:cNvSpPr/>
          <p:nvPr/>
        </p:nvSpPr>
        <p:spPr>
          <a:xfrm>
            <a:off x="1655150" y="1649156"/>
            <a:ext cx="1200600" cy="2586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9106ef11a1_61_2"/>
          <p:cNvSpPr/>
          <p:nvPr/>
        </p:nvSpPr>
        <p:spPr>
          <a:xfrm>
            <a:off x="1655150" y="1957725"/>
            <a:ext cx="586200" cy="2586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9106ef11a1_61_2"/>
          <p:cNvSpPr/>
          <p:nvPr/>
        </p:nvSpPr>
        <p:spPr>
          <a:xfrm>
            <a:off x="1655150" y="2266294"/>
            <a:ext cx="586200" cy="2586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9106ef11a1_61_2"/>
          <p:cNvSpPr/>
          <p:nvPr/>
        </p:nvSpPr>
        <p:spPr>
          <a:xfrm>
            <a:off x="1655150" y="2574863"/>
            <a:ext cx="586200" cy="2586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9106ef11a1_61_2"/>
          <p:cNvSpPr/>
          <p:nvPr/>
        </p:nvSpPr>
        <p:spPr>
          <a:xfrm>
            <a:off x="1655150" y="2890553"/>
            <a:ext cx="586200" cy="2586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9106ef11a1_61_2"/>
          <p:cNvSpPr/>
          <p:nvPr/>
        </p:nvSpPr>
        <p:spPr>
          <a:xfrm>
            <a:off x="1655150" y="1340587"/>
            <a:ext cx="586200" cy="2586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9106ef11a1_61_2"/>
          <p:cNvSpPr/>
          <p:nvPr/>
        </p:nvSpPr>
        <p:spPr>
          <a:xfrm>
            <a:off x="3603350" y="1115581"/>
            <a:ext cx="131700" cy="1407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38025" tIns="38025" rIns="38025" bIns="38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82"/>
          </a:p>
        </p:txBody>
      </p:sp>
      <p:sp>
        <p:nvSpPr>
          <p:cNvPr id="220" name="Google Shape;220;g39106ef11a1_61_2"/>
          <p:cNvSpPr/>
          <p:nvPr/>
        </p:nvSpPr>
        <p:spPr>
          <a:xfrm>
            <a:off x="3603350" y="1307271"/>
            <a:ext cx="131700" cy="1407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38025" tIns="38025" rIns="38025" bIns="38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82"/>
          </a:p>
        </p:txBody>
      </p:sp>
      <p:sp>
        <p:nvSpPr>
          <p:cNvPr id="221" name="Google Shape;221;g39106ef11a1_61_2"/>
          <p:cNvSpPr txBox="1"/>
          <p:nvPr/>
        </p:nvSpPr>
        <p:spPr>
          <a:xfrm>
            <a:off x="3649363" y="1032018"/>
            <a:ext cx="52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Rural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g39106ef11a1_61_2"/>
          <p:cNvSpPr txBox="1"/>
          <p:nvPr/>
        </p:nvSpPr>
        <p:spPr>
          <a:xfrm>
            <a:off x="3649363" y="1223718"/>
            <a:ext cx="69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Urbana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g39106ef11a1_61_2"/>
          <p:cNvSpPr/>
          <p:nvPr/>
        </p:nvSpPr>
        <p:spPr>
          <a:xfrm>
            <a:off x="3540763" y="1032018"/>
            <a:ext cx="696900" cy="499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9106ef11a1_61_2"/>
          <p:cNvSpPr txBox="1"/>
          <p:nvPr/>
        </p:nvSpPr>
        <p:spPr>
          <a:xfrm>
            <a:off x="629263" y="1055268"/>
            <a:ext cx="103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Esteban Ochoa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39106ef11a1_61_2"/>
          <p:cNvSpPr txBox="1"/>
          <p:nvPr/>
        </p:nvSpPr>
        <p:spPr>
          <a:xfrm>
            <a:off x="466673" y="1315993"/>
            <a:ext cx="120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Avelino Saldarriaga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g39106ef11a1_61_2"/>
          <p:cNvSpPr txBox="1"/>
          <p:nvPr/>
        </p:nvSpPr>
        <p:spPr>
          <a:xfrm>
            <a:off x="407475" y="1636856"/>
            <a:ext cx="1259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María Josefa Escobar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g39106ef11a1_61_2"/>
          <p:cNvSpPr txBox="1"/>
          <p:nvPr/>
        </p:nvSpPr>
        <p:spPr>
          <a:xfrm>
            <a:off x="921088" y="1951581"/>
            <a:ext cx="74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Rosario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g39106ef11a1_61_2"/>
          <p:cNvSpPr txBox="1"/>
          <p:nvPr/>
        </p:nvSpPr>
        <p:spPr>
          <a:xfrm>
            <a:off x="571363" y="2260156"/>
            <a:ext cx="109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Luis Carlos Galán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g39106ef11a1_61_2"/>
          <p:cNvSpPr txBox="1"/>
          <p:nvPr/>
        </p:nvSpPr>
        <p:spPr>
          <a:xfrm>
            <a:off x="350649" y="2571806"/>
            <a:ext cx="1316664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Antonio José de Sucre</a:t>
            </a:r>
            <a:endParaRPr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39106ef11a1_61_2"/>
          <p:cNvSpPr txBox="1"/>
          <p:nvPr/>
        </p:nvSpPr>
        <p:spPr>
          <a:xfrm>
            <a:off x="350649" y="2890570"/>
            <a:ext cx="131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Benedikta Zur Nieden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g39106ef11a1_61_2"/>
          <p:cNvSpPr txBox="1"/>
          <p:nvPr/>
        </p:nvSpPr>
        <p:spPr>
          <a:xfrm>
            <a:off x="896073" y="634200"/>
            <a:ext cx="334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Número de sedes por zona en cada IE</a:t>
            </a:r>
            <a:endParaRPr sz="12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g39106ef11a1_61_2"/>
          <p:cNvSpPr txBox="1"/>
          <p:nvPr/>
        </p:nvSpPr>
        <p:spPr>
          <a:xfrm>
            <a:off x="160900" y="3649550"/>
            <a:ext cx="4230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mayoría de las instituciones educativas se encuentran en</a:t>
            </a:r>
            <a:r>
              <a:rPr lang="es-CO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CO" sz="12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zona urbana</a:t>
            </a:r>
            <a:r>
              <a:rPr lang="es-CO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y hay dos con sedes rurales.  En total, el conjunto de instituciones lideradas por los directivos participantes en la entidad territorial agrupa 12 sedes de las cuales, 9 están ubicadas en zona urbana y 3 en zona rural. 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34" name="Google Shape;234;g39106ef11a1_61_2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235" name="Google Shape;235;g39106ef11a1_61_2" title="Coordinadores horizontal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g39106ef11a1_61_2" title="RLT Horizont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7" name="Google Shape;237;g39106ef11a1_61_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g39106ef11a1_61_2"/>
          <p:cNvCxnSpPr/>
          <p:nvPr/>
        </p:nvCxnSpPr>
        <p:spPr>
          <a:xfrm>
            <a:off x="4795100" y="1832775"/>
            <a:ext cx="3997500" cy="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g39106ef11a1_61_2"/>
          <p:cNvCxnSpPr/>
          <p:nvPr/>
        </p:nvCxnSpPr>
        <p:spPr>
          <a:xfrm>
            <a:off x="4795100" y="3200300"/>
            <a:ext cx="3997500" cy="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" name="Google Shape;188;g39106ef11a1_61_2"/>
          <p:cNvSpPr/>
          <p:nvPr/>
        </p:nvSpPr>
        <p:spPr>
          <a:xfrm>
            <a:off x="5191651" y="2231342"/>
            <a:ext cx="2137647" cy="385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9106ef11a1_61_2"/>
          <p:cNvSpPr txBox="1"/>
          <p:nvPr/>
        </p:nvSpPr>
        <p:spPr>
          <a:xfrm>
            <a:off x="5586015" y="2239309"/>
            <a:ext cx="1502463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156;p18">
            <a:extLst>
              <a:ext uri="{FF2B5EF4-FFF2-40B4-BE49-F238E27FC236}">
                <a16:creationId xmlns:a16="http://schemas.microsoft.com/office/drawing/2014/main" id="{C20787F8-F6F5-CC87-581E-14BA8E572969}"/>
              </a:ext>
            </a:extLst>
          </p:cNvPr>
          <p:cNvSpPr txBox="1"/>
          <p:nvPr/>
        </p:nvSpPr>
        <p:spPr>
          <a:xfrm>
            <a:off x="3141288" y="976727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2" name="Google Shape;156;p18">
            <a:extLst>
              <a:ext uri="{FF2B5EF4-FFF2-40B4-BE49-F238E27FC236}">
                <a16:creationId xmlns:a16="http://schemas.microsoft.com/office/drawing/2014/main" id="{16691746-37F9-702A-8574-868510A102A6}"/>
              </a:ext>
            </a:extLst>
          </p:cNvPr>
          <p:cNvSpPr txBox="1"/>
          <p:nvPr/>
        </p:nvSpPr>
        <p:spPr>
          <a:xfrm>
            <a:off x="3122213" y="1297739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" name="Google Shape;156;p18">
            <a:extLst>
              <a:ext uri="{FF2B5EF4-FFF2-40B4-BE49-F238E27FC236}">
                <a16:creationId xmlns:a16="http://schemas.microsoft.com/office/drawing/2014/main" id="{9936DA49-2FCD-D8AA-0CD3-3EBFD0370FA7}"/>
              </a:ext>
            </a:extLst>
          </p:cNvPr>
          <p:cNvSpPr txBox="1"/>
          <p:nvPr/>
        </p:nvSpPr>
        <p:spPr>
          <a:xfrm>
            <a:off x="1946337" y="1300253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4" name="Google Shape;156;p18">
            <a:extLst>
              <a:ext uri="{FF2B5EF4-FFF2-40B4-BE49-F238E27FC236}">
                <a16:creationId xmlns:a16="http://schemas.microsoft.com/office/drawing/2014/main" id="{5EC1DDFF-66F3-8B92-39EA-19FBC37B135D}"/>
              </a:ext>
            </a:extLst>
          </p:cNvPr>
          <p:cNvSpPr txBox="1"/>
          <p:nvPr/>
        </p:nvSpPr>
        <p:spPr>
          <a:xfrm>
            <a:off x="2546643" y="1594105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5" name="Google Shape;156;p18">
            <a:extLst>
              <a:ext uri="{FF2B5EF4-FFF2-40B4-BE49-F238E27FC236}">
                <a16:creationId xmlns:a16="http://schemas.microsoft.com/office/drawing/2014/main" id="{93F1B03E-2FB0-00B0-EEB7-4EE845DCF3EF}"/>
              </a:ext>
            </a:extLst>
          </p:cNvPr>
          <p:cNvSpPr txBox="1"/>
          <p:nvPr/>
        </p:nvSpPr>
        <p:spPr>
          <a:xfrm>
            <a:off x="1946337" y="1904679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6" name="Google Shape;156;p18">
            <a:extLst>
              <a:ext uri="{FF2B5EF4-FFF2-40B4-BE49-F238E27FC236}">
                <a16:creationId xmlns:a16="http://schemas.microsoft.com/office/drawing/2014/main" id="{4F7301CB-AF62-7265-1957-4B8C28AF24CE}"/>
              </a:ext>
            </a:extLst>
          </p:cNvPr>
          <p:cNvSpPr txBox="1"/>
          <p:nvPr/>
        </p:nvSpPr>
        <p:spPr>
          <a:xfrm>
            <a:off x="1946553" y="2206349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" name="Google Shape;156;p18">
            <a:extLst>
              <a:ext uri="{FF2B5EF4-FFF2-40B4-BE49-F238E27FC236}">
                <a16:creationId xmlns:a16="http://schemas.microsoft.com/office/drawing/2014/main" id="{4389F5E6-4922-5EC9-DECB-AB2B7D730BE5}"/>
              </a:ext>
            </a:extLst>
          </p:cNvPr>
          <p:cNvSpPr txBox="1"/>
          <p:nvPr/>
        </p:nvSpPr>
        <p:spPr>
          <a:xfrm>
            <a:off x="1940537" y="2516534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8" name="Google Shape;156;p18">
            <a:extLst>
              <a:ext uri="{FF2B5EF4-FFF2-40B4-BE49-F238E27FC236}">
                <a16:creationId xmlns:a16="http://schemas.microsoft.com/office/drawing/2014/main" id="{F0AE250E-B69E-B599-D756-03C68713CF39}"/>
              </a:ext>
            </a:extLst>
          </p:cNvPr>
          <p:cNvSpPr txBox="1"/>
          <p:nvPr/>
        </p:nvSpPr>
        <p:spPr>
          <a:xfrm>
            <a:off x="1934521" y="2840041"/>
            <a:ext cx="3804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chemeClr val="lt1"/>
                </a:solidFill>
                <a:latin typeface="Montserrat"/>
                <a:sym typeface="Montserrat"/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DFFD3F30-0A31-0A3F-E347-F3930EF53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7">
            <a:extLst>
              <a:ext uri="{FF2B5EF4-FFF2-40B4-BE49-F238E27FC236}">
                <a16:creationId xmlns:a16="http://schemas.microsoft.com/office/drawing/2014/main" id="{7E2CED1B-47E0-2DB0-AFC0-2F83543B0A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5703" y="3918684"/>
            <a:ext cx="2035743" cy="950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662F698A-F896-F203-852B-DFC3F4CF5B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6602" y="0"/>
            <a:ext cx="4641853" cy="403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>
            <a:extLst>
              <a:ext uri="{FF2B5EF4-FFF2-40B4-BE49-F238E27FC236}">
                <a16:creationId xmlns:a16="http://schemas.microsoft.com/office/drawing/2014/main" id="{B8692906-3B77-9905-7063-F657355CAFAF}"/>
              </a:ext>
            </a:extLst>
          </p:cNvPr>
          <p:cNvSpPr/>
          <p:nvPr/>
        </p:nvSpPr>
        <p:spPr>
          <a:xfrm rot="5400000">
            <a:off x="3446768" y="-560915"/>
            <a:ext cx="2279374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6CCCA7CA-77DF-7AE4-327B-AEAA68F05E3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67301" y="1140699"/>
            <a:ext cx="4874001" cy="10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 dirty="0">
                <a:solidFill>
                  <a:srgbClr val="E82D7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3. Rúbricas por módulo </a:t>
            </a:r>
            <a:endParaRPr sz="3000" dirty="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33" name="Google Shape;133;p7">
            <a:extLst>
              <a:ext uri="{FF2B5EF4-FFF2-40B4-BE49-F238E27FC236}">
                <a16:creationId xmlns:a16="http://schemas.microsoft.com/office/drawing/2014/main" id="{7C22BE8D-6B66-0FD9-722B-9F49D6DF3E26}"/>
              </a:ext>
            </a:extLst>
          </p:cNvPr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134" name="Google Shape;134;p7" title="Coordinadores horizontal.png">
              <a:extLst>
                <a:ext uri="{FF2B5EF4-FFF2-40B4-BE49-F238E27FC236}">
                  <a16:creationId xmlns:a16="http://schemas.microsoft.com/office/drawing/2014/main" id="{8F5181F6-520B-2E9D-1F95-8E891AB14023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7" title="RLT Horizontal.png">
              <a:extLst>
                <a:ext uri="{FF2B5EF4-FFF2-40B4-BE49-F238E27FC236}">
                  <a16:creationId xmlns:a16="http://schemas.microsoft.com/office/drawing/2014/main" id="{D277D17B-CAC4-C019-EDEB-A87BC69B8C2F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6" name="Google Shape;136;p7">
            <a:extLst>
              <a:ext uri="{FF2B5EF4-FFF2-40B4-BE49-F238E27FC236}">
                <a16:creationId xmlns:a16="http://schemas.microsoft.com/office/drawing/2014/main" id="{4D22FAB5-EB10-14FE-B25B-D48C2388EEA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>
            <a:extLst>
              <a:ext uri="{FF2B5EF4-FFF2-40B4-BE49-F238E27FC236}">
                <a16:creationId xmlns:a16="http://schemas.microsoft.com/office/drawing/2014/main" id="{CDB9E713-3FF3-8882-BA9C-B96AE43A3A3A}"/>
              </a:ext>
            </a:extLst>
          </p:cNvPr>
          <p:cNvSpPr txBox="1"/>
          <p:nvPr/>
        </p:nvSpPr>
        <p:spPr>
          <a:xfrm>
            <a:off x="7597125" y="106350"/>
            <a:ext cx="14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257398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1066d644e_0_18"/>
          <p:cNvSpPr/>
          <p:nvPr/>
        </p:nvSpPr>
        <p:spPr>
          <a:xfrm rot="5400000">
            <a:off x="3799350" y="-185700"/>
            <a:ext cx="1545300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91066d644e_0_18"/>
          <p:cNvSpPr txBox="1">
            <a:spLocks noGrp="1"/>
          </p:cNvSpPr>
          <p:nvPr>
            <p:ph type="body" idx="1"/>
          </p:nvPr>
        </p:nvSpPr>
        <p:spPr>
          <a:xfrm>
            <a:off x="142581" y="3654361"/>
            <a:ext cx="8001519" cy="1144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946"/>
              <a:buNone/>
            </a:pPr>
            <a:r>
              <a:rPr lang="es-CO" sz="12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Análisis: </a:t>
            </a: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resultados dan cuenta de un logro excepcional en relación al aprendizaje, que se revela con un nivel avanzando en los 2 procesos y 1 producto. En el Proceso de Autoconocimiento, es notorio cuando el líder mantiene una práctica reflexiva permanente y profunda sobre los aspectos de su ser y hace visible sus triunfos y retos. A su vez, desde el Proceso de Enfoque Apreciativo, ocurre en la medida que se identifica el potencial de situaciones y personas con las que se relacionan. Y finalmente, el producto de Propósito de Vida que da sentido a su liderazgo escolar y se manifiesta intencionadamente a través de acciones explícitas en sus Instituciones Educativas.</a:t>
            </a: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74" name="Google Shape;274;g391066d644e_0_18"/>
          <p:cNvGraphicFramePr/>
          <p:nvPr>
            <p:extLst>
              <p:ext uri="{D42A27DB-BD31-4B8C-83A1-F6EECF244321}">
                <p14:modId xmlns:p14="http://schemas.microsoft.com/office/powerpoint/2010/main" val="2154296251"/>
              </p:ext>
            </p:extLst>
          </p:nvPr>
        </p:nvGraphicFramePr>
        <p:xfrm>
          <a:off x="4012893" y="1803816"/>
          <a:ext cx="4728332" cy="1369300"/>
        </p:xfrm>
        <a:graphic>
          <a:graphicData uri="http://schemas.openxmlformats.org/drawingml/2006/table">
            <a:tbl>
              <a:tblPr>
                <a:noFill/>
                <a:tableStyleId>{325ECE54-5A6A-4EC5-BCD4-2FE71682391F}</a:tableStyleId>
              </a:tblPr>
              <a:tblGrid>
                <a:gridCol w="899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16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i="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Módulo I Nivel</a:t>
                      </a:r>
                      <a:endParaRPr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Proceso: </a:t>
                      </a:r>
                      <a:r>
                        <a:rPr lang="es-CO" sz="1000" i="0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          </a:ext>
                          </a:extLst>
                        </a:rPr>
                        <a:t>Autoconocimiento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Proceso: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-CO" sz="1000" i="0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Enfoque apreciativo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Producto:  </a:t>
                      </a:r>
                      <a:r>
                        <a:rPr lang="es-CO" sz="1000" i="0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Propósito de vida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1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Avanzado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1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Intermedio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1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Básico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1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 evidencia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44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6" name="Google Shape;276;g391066d644e_0_18"/>
          <p:cNvSpPr txBox="1">
            <a:spLocks noGrp="1"/>
          </p:cNvSpPr>
          <p:nvPr>
            <p:ph type="title"/>
          </p:nvPr>
        </p:nvSpPr>
        <p:spPr>
          <a:xfrm>
            <a:off x="2327926" y="106326"/>
            <a:ext cx="6261341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Font typeface="Montserrat"/>
              <a:buNone/>
            </a:pPr>
            <a:r>
              <a:rPr lang="es-CO" sz="2000" dirty="0">
                <a:solidFill>
                  <a:srgbClr val="E82D7E"/>
                </a:solidFill>
              </a:rPr>
              <a:t>Módulo </a:t>
            </a:r>
            <a:r>
              <a:rPr lang="es-CO" sz="2000" dirty="0">
                <a:solidFill>
                  <a:srgbClr val="E82D7E"/>
                </a:solidFill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I </a:t>
            </a:r>
            <a:r>
              <a:rPr lang="es-CO" sz="2000" i="1" dirty="0">
                <a:solidFill>
                  <a:srgbClr val="E82D7E"/>
                </a:solidFill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“El valor de ser y de ser con otros”</a:t>
            </a:r>
            <a:endParaRPr sz="2000" i="1" dirty="0">
              <a:solidFill>
                <a:srgbClr val="E82D7E"/>
              </a:solidFill>
            </a:endParaRPr>
          </a:p>
        </p:txBody>
      </p:sp>
      <p:grpSp>
        <p:nvGrpSpPr>
          <p:cNvPr id="277" name="Google Shape;277;g391066d644e_0_18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278" name="Google Shape;278;g391066d644e_0_18" title="Coordinadores horizontal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g391066d644e_0_18" title="RLT Horizont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0" name="Google Shape;280;g391066d644e_0_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91066d644e_0_18"/>
          <p:cNvSpPr txBox="1"/>
          <p:nvPr/>
        </p:nvSpPr>
        <p:spPr>
          <a:xfrm>
            <a:off x="4474050" y="3379805"/>
            <a:ext cx="5169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CO" sz="900" i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Fuente: Datos tomados de los Informes de Módulos del proceso RLT-CLT 2025</a:t>
            </a:r>
            <a:endParaRPr sz="1300" dirty="0"/>
          </a:p>
        </p:txBody>
      </p:sp>
      <p:sp>
        <p:nvSpPr>
          <p:cNvPr id="282" name="Google Shape;282;g391066d644e_0_18"/>
          <p:cNvSpPr/>
          <p:nvPr/>
        </p:nvSpPr>
        <p:spPr>
          <a:xfrm>
            <a:off x="776600" y="1355255"/>
            <a:ext cx="380400" cy="9363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283" name="Google Shape;283;g391066d644e_0_18"/>
          <p:cNvSpPr/>
          <p:nvPr/>
        </p:nvSpPr>
        <p:spPr>
          <a:xfrm>
            <a:off x="1306950" y="1355225"/>
            <a:ext cx="380400" cy="9363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284" name="Google Shape;284;g391066d644e_0_18"/>
          <p:cNvSpPr/>
          <p:nvPr/>
        </p:nvSpPr>
        <p:spPr>
          <a:xfrm>
            <a:off x="1873950" y="1355255"/>
            <a:ext cx="380400" cy="9363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285" name="Google Shape;285;g391066d644e_0_18"/>
          <p:cNvSpPr txBox="1"/>
          <p:nvPr/>
        </p:nvSpPr>
        <p:spPr>
          <a:xfrm>
            <a:off x="865900" y="2925938"/>
            <a:ext cx="1120784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Autoconocimiento</a:t>
            </a:r>
            <a:endParaRPr sz="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Enfoque apreciativo</a:t>
            </a:r>
            <a:endParaRPr sz="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Propósito de vida</a:t>
            </a:r>
            <a:endParaRPr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g391066d644e_0_18"/>
          <p:cNvSpPr txBox="1"/>
          <p:nvPr/>
        </p:nvSpPr>
        <p:spPr>
          <a:xfrm>
            <a:off x="1016252" y="2577479"/>
            <a:ext cx="96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Avanzado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g391066d644e_0_18"/>
          <p:cNvSpPr txBox="1"/>
          <p:nvPr/>
        </p:nvSpPr>
        <p:spPr>
          <a:xfrm>
            <a:off x="2043625" y="2538144"/>
            <a:ext cx="93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Intermedio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8" name="Google Shape;288;g391066d644e_0_18"/>
          <p:cNvCxnSpPr>
            <a:stCxn id="282" idx="2"/>
            <a:endCxn id="286" idx="0"/>
          </p:cNvCxnSpPr>
          <p:nvPr/>
        </p:nvCxnSpPr>
        <p:spPr>
          <a:xfrm rot="-5400000" flipH="1">
            <a:off x="1089050" y="2169305"/>
            <a:ext cx="285900" cy="5304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9" name="Google Shape;289;g391066d644e_0_18"/>
          <p:cNvCxnSpPr>
            <a:stCxn id="283" idx="2"/>
            <a:endCxn id="286" idx="0"/>
          </p:cNvCxnSpPr>
          <p:nvPr/>
        </p:nvCxnSpPr>
        <p:spPr>
          <a:xfrm rot="-5400000" flipH="1">
            <a:off x="1354500" y="2434175"/>
            <a:ext cx="285900" cy="6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90" name="Google Shape;290;g391066d644e_0_18"/>
          <p:cNvCxnSpPr>
            <a:stCxn id="284" idx="2"/>
            <a:endCxn id="286" idx="0"/>
          </p:cNvCxnSpPr>
          <p:nvPr/>
        </p:nvCxnSpPr>
        <p:spPr>
          <a:xfrm rot="5400000">
            <a:off x="1637700" y="2151005"/>
            <a:ext cx="285900" cy="5670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1" name="Google Shape;291;g391066d644e_0_18"/>
          <p:cNvSpPr txBox="1"/>
          <p:nvPr/>
        </p:nvSpPr>
        <p:spPr>
          <a:xfrm>
            <a:off x="2320225" y="2021850"/>
            <a:ext cx="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g391066d644e_0_18"/>
          <p:cNvSpPr txBox="1"/>
          <p:nvPr/>
        </p:nvSpPr>
        <p:spPr>
          <a:xfrm>
            <a:off x="2625025" y="2021850"/>
            <a:ext cx="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g391066d644e_0_18"/>
          <p:cNvSpPr txBox="1"/>
          <p:nvPr/>
        </p:nvSpPr>
        <p:spPr>
          <a:xfrm>
            <a:off x="3043109" y="2021850"/>
            <a:ext cx="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g391066d644e_0_18"/>
          <p:cNvSpPr txBox="1"/>
          <p:nvPr/>
        </p:nvSpPr>
        <p:spPr>
          <a:xfrm>
            <a:off x="2497825" y="3011813"/>
            <a:ext cx="63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Básico</a:t>
            </a:r>
            <a:endParaRPr sz="800"/>
          </a:p>
        </p:txBody>
      </p:sp>
      <p:sp>
        <p:nvSpPr>
          <p:cNvPr id="295" name="Google Shape;295;g391066d644e_0_18"/>
          <p:cNvSpPr txBox="1"/>
          <p:nvPr/>
        </p:nvSpPr>
        <p:spPr>
          <a:xfrm>
            <a:off x="2709809" y="2538144"/>
            <a:ext cx="104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 evidencia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296" name="Google Shape;296;g391066d644e_0_18"/>
          <p:cNvCxnSpPr>
            <a:stCxn id="291" idx="2"/>
            <a:endCxn id="287" idx="0"/>
          </p:cNvCxnSpPr>
          <p:nvPr/>
        </p:nvCxnSpPr>
        <p:spPr>
          <a:xfrm>
            <a:off x="2510425" y="2329650"/>
            <a:ext cx="0" cy="2085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97" name="Google Shape;297;g391066d644e_0_18"/>
          <p:cNvCxnSpPr>
            <a:stCxn id="292" idx="2"/>
            <a:endCxn id="294" idx="0"/>
          </p:cNvCxnSpPr>
          <p:nvPr/>
        </p:nvCxnSpPr>
        <p:spPr>
          <a:xfrm>
            <a:off x="2815225" y="2329650"/>
            <a:ext cx="0" cy="6822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98" name="Google Shape;298;g391066d644e_0_18"/>
          <p:cNvCxnSpPr>
            <a:stCxn id="293" idx="2"/>
            <a:endCxn id="295" idx="0"/>
          </p:cNvCxnSpPr>
          <p:nvPr/>
        </p:nvCxnSpPr>
        <p:spPr>
          <a:xfrm>
            <a:off x="3233309" y="2329650"/>
            <a:ext cx="0" cy="2085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9" name="Google Shape;299;g391066d644e_0_18"/>
          <p:cNvSpPr txBox="1"/>
          <p:nvPr/>
        </p:nvSpPr>
        <p:spPr>
          <a:xfrm>
            <a:off x="1244400" y="993625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0" name="Google Shape;300;g391066d644e_0_18"/>
          <p:cNvCxnSpPr/>
          <p:nvPr/>
        </p:nvCxnSpPr>
        <p:spPr>
          <a:xfrm>
            <a:off x="1738247" y="2434425"/>
            <a:ext cx="1512300" cy="144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" name="Google Shape;301;g391066d644e_0_18"/>
          <p:cNvSpPr/>
          <p:nvPr/>
        </p:nvSpPr>
        <p:spPr>
          <a:xfrm>
            <a:off x="834225" y="3017538"/>
            <a:ext cx="54900" cy="549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91066d644e_0_18"/>
          <p:cNvSpPr/>
          <p:nvPr/>
        </p:nvSpPr>
        <p:spPr>
          <a:xfrm>
            <a:off x="834225" y="3129338"/>
            <a:ext cx="54900" cy="549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91066d644e_0_18"/>
          <p:cNvSpPr/>
          <p:nvPr/>
        </p:nvSpPr>
        <p:spPr>
          <a:xfrm>
            <a:off x="834225" y="3218688"/>
            <a:ext cx="54900" cy="549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91066d644e_0_18"/>
          <p:cNvSpPr/>
          <p:nvPr/>
        </p:nvSpPr>
        <p:spPr>
          <a:xfrm>
            <a:off x="733399" y="2955838"/>
            <a:ext cx="1140243" cy="409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10c504689_2_61"/>
          <p:cNvSpPr/>
          <p:nvPr/>
        </p:nvSpPr>
        <p:spPr>
          <a:xfrm rot="5400000">
            <a:off x="3771300" y="-213775"/>
            <a:ext cx="1601400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910c504689_2_61"/>
          <p:cNvSpPr txBox="1">
            <a:spLocks noGrp="1"/>
          </p:cNvSpPr>
          <p:nvPr>
            <p:ph type="body" idx="1"/>
          </p:nvPr>
        </p:nvSpPr>
        <p:spPr>
          <a:xfrm>
            <a:off x="99037" y="3516993"/>
            <a:ext cx="8018919" cy="150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946"/>
              <a:buNone/>
            </a:pPr>
            <a:r>
              <a:rPr lang="es-CO" sz="12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Análisis: </a:t>
            </a: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resultados dan cuenta de avances significativos en el Módulo II, donde el 100% de los Directivos Docentes alcanzó el nivel Avanzado en el Proceso de Comunicación asertiva, sosteniendo conversaciones constantes con su equipo donde es posible expresarse con confianza y seguridad. En el Proceso de Participación de la comunidad, el 50% alcanzó el nivel Avanzado generando participación decisoria en procesos institucionales, mientras que el otro 50% se encuentra en nivel Intermedio con participación consultiva. Respecto al Producto de Visión compartida con prácticas de equidad para una escuela inclusiva, el 87.5% logró construirla con la comunidad y el 12.5% con su equipo de trabajo, ambos evidenciando prácticas de equidad.</a:t>
            </a: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27" name="Google Shape;327;g3910c504689_2_61"/>
          <p:cNvGraphicFramePr/>
          <p:nvPr>
            <p:extLst>
              <p:ext uri="{D42A27DB-BD31-4B8C-83A1-F6EECF244321}">
                <p14:modId xmlns:p14="http://schemas.microsoft.com/office/powerpoint/2010/main" val="3694424480"/>
              </p:ext>
            </p:extLst>
          </p:nvPr>
        </p:nvGraphicFramePr>
        <p:xfrm>
          <a:off x="4064452" y="1201600"/>
          <a:ext cx="4770523" cy="1826500"/>
        </p:xfrm>
        <a:graphic>
          <a:graphicData uri="http://schemas.openxmlformats.org/drawingml/2006/table">
            <a:tbl>
              <a:tblPr>
                <a:noFill/>
                <a:tableStyleId>{325ECE54-5A6A-4EC5-BCD4-2FE71682391F}</a:tableStyleId>
              </a:tblPr>
              <a:tblGrid>
                <a:gridCol w="90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53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i="0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Módulo II Nivel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Proceso: Comunicación asertiva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Proceso: Participación de la comunidad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Producto: Visión compartida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 prácticas de equidad para una escuela inclusiva 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Avanzado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87.5%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Intermedio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12.5%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Básico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 evidencia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8" name="Google Shape;328;g3910c504689_2_61"/>
          <p:cNvSpPr txBox="1">
            <a:spLocks noGrp="1"/>
          </p:cNvSpPr>
          <p:nvPr>
            <p:ph type="title"/>
          </p:nvPr>
        </p:nvSpPr>
        <p:spPr>
          <a:xfrm>
            <a:off x="2296163" y="133894"/>
            <a:ext cx="6704962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Font typeface="Montserrat"/>
              <a:buNone/>
            </a:pPr>
            <a:r>
              <a:rPr lang="es-CO" sz="2000" dirty="0">
                <a:solidFill>
                  <a:srgbClr val="E82D7E"/>
                </a:solidFill>
              </a:rPr>
              <a:t>Módulo II </a:t>
            </a:r>
            <a:r>
              <a:rPr lang="es-CO" sz="2000" i="1" dirty="0">
                <a:solidFill>
                  <a:srgbClr val="E82D7E"/>
                </a:solidFill>
              </a:rPr>
              <a:t>“La reconquista pedagógica y el arte de acompañar a otros a aprender”</a:t>
            </a:r>
            <a:endParaRPr sz="2000" i="1" dirty="0">
              <a:solidFill>
                <a:srgbClr val="E82D7E"/>
              </a:solidFill>
            </a:endParaRPr>
          </a:p>
        </p:txBody>
      </p:sp>
      <p:grpSp>
        <p:nvGrpSpPr>
          <p:cNvPr id="329" name="Google Shape;329;g3910c504689_2_61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330" name="Google Shape;330;g3910c504689_2_61" title="Coordinadores horizontal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g3910c504689_2_61" title="RLT Horizont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g3910c504689_2_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910c504689_2_61"/>
          <p:cNvSpPr/>
          <p:nvPr/>
        </p:nvSpPr>
        <p:spPr>
          <a:xfrm>
            <a:off x="309025" y="1274924"/>
            <a:ext cx="380400" cy="9363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334" name="Google Shape;334;g3910c504689_2_61"/>
          <p:cNvSpPr/>
          <p:nvPr/>
        </p:nvSpPr>
        <p:spPr>
          <a:xfrm>
            <a:off x="839375" y="1749494"/>
            <a:ext cx="380400" cy="4617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335" name="Google Shape;335;g3910c504689_2_61"/>
          <p:cNvSpPr/>
          <p:nvPr/>
        </p:nvSpPr>
        <p:spPr>
          <a:xfrm>
            <a:off x="1406375" y="1374994"/>
            <a:ext cx="380400" cy="8361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336" name="Google Shape;336;g3910c504689_2_61"/>
          <p:cNvSpPr txBox="1"/>
          <p:nvPr/>
        </p:nvSpPr>
        <p:spPr>
          <a:xfrm>
            <a:off x="398325" y="2845600"/>
            <a:ext cx="1876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Comunicación asertiva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Participación de la comunidad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Visión compartida con prácticas de equidad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s-CO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 una escuela inclusiva 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g3910c504689_2_61"/>
          <p:cNvSpPr txBox="1"/>
          <p:nvPr/>
        </p:nvSpPr>
        <p:spPr>
          <a:xfrm>
            <a:off x="548677" y="2497148"/>
            <a:ext cx="96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Avanzado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8" name="Google Shape;338;g3910c504689_2_61"/>
          <p:cNvCxnSpPr>
            <a:stCxn id="333" idx="2"/>
            <a:endCxn id="337" idx="0"/>
          </p:cNvCxnSpPr>
          <p:nvPr/>
        </p:nvCxnSpPr>
        <p:spPr>
          <a:xfrm rot="-5400000" flipH="1">
            <a:off x="621475" y="2088974"/>
            <a:ext cx="285900" cy="5304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9" name="Google Shape;339;g3910c504689_2_61"/>
          <p:cNvCxnSpPr>
            <a:stCxn id="334" idx="2"/>
            <a:endCxn id="337" idx="0"/>
          </p:cNvCxnSpPr>
          <p:nvPr/>
        </p:nvCxnSpPr>
        <p:spPr>
          <a:xfrm rot="-5400000" flipH="1">
            <a:off x="886925" y="2353844"/>
            <a:ext cx="285900" cy="6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40" name="Google Shape;340;g3910c504689_2_61"/>
          <p:cNvCxnSpPr>
            <a:stCxn id="335" idx="2"/>
            <a:endCxn id="337" idx="0"/>
          </p:cNvCxnSpPr>
          <p:nvPr/>
        </p:nvCxnSpPr>
        <p:spPr>
          <a:xfrm rot="5400000">
            <a:off x="1169975" y="2070694"/>
            <a:ext cx="286200" cy="567000"/>
          </a:xfrm>
          <a:prstGeom prst="bentConnector3">
            <a:avLst>
              <a:gd name="adj1" fmla="val 49974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1" name="Google Shape;341;g3910c504689_2_61"/>
          <p:cNvSpPr txBox="1"/>
          <p:nvPr/>
        </p:nvSpPr>
        <p:spPr>
          <a:xfrm>
            <a:off x="794850" y="1509444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g3910c504689_2_61"/>
          <p:cNvSpPr/>
          <p:nvPr/>
        </p:nvSpPr>
        <p:spPr>
          <a:xfrm>
            <a:off x="366650" y="2937206"/>
            <a:ext cx="54900" cy="549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910c504689_2_61"/>
          <p:cNvSpPr/>
          <p:nvPr/>
        </p:nvSpPr>
        <p:spPr>
          <a:xfrm>
            <a:off x="366650" y="3049006"/>
            <a:ext cx="54900" cy="549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910c504689_2_61"/>
          <p:cNvSpPr/>
          <p:nvPr/>
        </p:nvSpPr>
        <p:spPr>
          <a:xfrm>
            <a:off x="366650" y="3138356"/>
            <a:ext cx="54900" cy="549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3910c504689_2_61"/>
          <p:cNvSpPr/>
          <p:nvPr/>
        </p:nvSpPr>
        <p:spPr>
          <a:xfrm>
            <a:off x="329963" y="2862925"/>
            <a:ext cx="1966200" cy="530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910c504689_2_61"/>
          <p:cNvSpPr/>
          <p:nvPr/>
        </p:nvSpPr>
        <p:spPr>
          <a:xfrm>
            <a:off x="1982825" y="1756146"/>
            <a:ext cx="380400" cy="4551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347" name="Google Shape;347;g3910c504689_2_61"/>
          <p:cNvSpPr/>
          <p:nvPr/>
        </p:nvSpPr>
        <p:spPr>
          <a:xfrm>
            <a:off x="2513175" y="1985344"/>
            <a:ext cx="380400" cy="2259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348" name="Google Shape;348;g3910c504689_2_61"/>
          <p:cNvSpPr txBox="1"/>
          <p:nvPr/>
        </p:nvSpPr>
        <p:spPr>
          <a:xfrm>
            <a:off x="1931777" y="2497148"/>
            <a:ext cx="96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Intermedio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g3910c504689_2_61"/>
          <p:cNvSpPr txBox="1"/>
          <p:nvPr/>
        </p:nvSpPr>
        <p:spPr>
          <a:xfrm>
            <a:off x="3016876" y="1914362"/>
            <a:ext cx="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g3910c504689_2_61"/>
          <p:cNvSpPr txBox="1"/>
          <p:nvPr/>
        </p:nvSpPr>
        <p:spPr>
          <a:xfrm>
            <a:off x="3290725" y="1914362"/>
            <a:ext cx="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1" name="Google Shape;351;g3910c504689_2_61"/>
          <p:cNvCxnSpPr>
            <a:stCxn id="346" idx="2"/>
            <a:endCxn id="348" idx="0"/>
          </p:cNvCxnSpPr>
          <p:nvPr/>
        </p:nvCxnSpPr>
        <p:spPr>
          <a:xfrm rot="-5400000" flipH="1">
            <a:off x="2149925" y="2234346"/>
            <a:ext cx="285900" cy="239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52" name="Google Shape;352;g3910c504689_2_61"/>
          <p:cNvCxnSpPr>
            <a:stCxn id="347" idx="2"/>
            <a:endCxn id="348" idx="0"/>
          </p:cNvCxnSpPr>
          <p:nvPr/>
        </p:nvCxnSpPr>
        <p:spPr>
          <a:xfrm rot="5400000">
            <a:off x="2415075" y="2208844"/>
            <a:ext cx="285900" cy="2907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53" name="Google Shape;353;g3910c504689_2_61"/>
          <p:cNvSpPr txBox="1"/>
          <p:nvPr/>
        </p:nvSpPr>
        <p:spPr>
          <a:xfrm>
            <a:off x="2893576" y="2497144"/>
            <a:ext cx="62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Básico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g3910c504689_2_61"/>
          <p:cNvSpPr txBox="1"/>
          <p:nvPr/>
        </p:nvSpPr>
        <p:spPr>
          <a:xfrm>
            <a:off x="3043525" y="2753581"/>
            <a:ext cx="87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 evidencia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5" name="Google Shape;355;g3910c504689_2_61"/>
          <p:cNvCxnSpPr>
            <a:stCxn id="349" idx="2"/>
            <a:endCxn id="353" idx="0"/>
          </p:cNvCxnSpPr>
          <p:nvPr/>
        </p:nvCxnSpPr>
        <p:spPr>
          <a:xfrm>
            <a:off x="3207076" y="2222162"/>
            <a:ext cx="0" cy="2751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56" name="Google Shape;356;g3910c504689_2_61"/>
          <p:cNvCxnSpPr>
            <a:stCxn id="350" idx="2"/>
            <a:endCxn id="354" idx="0"/>
          </p:cNvCxnSpPr>
          <p:nvPr/>
        </p:nvCxnSpPr>
        <p:spPr>
          <a:xfrm>
            <a:off x="3480925" y="2222162"/>
            <a:ext cx="0" cy="5313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57" name="Google Shape;357;g3910c504689_2_61"/>
          <p:cNvCxnSpPr/>
          <p:nvPr/>
        </p:nvCxnSpPr>
        <p:spPr>
          <a:xfrm rot="10800000" flipH="1">
            <a:off x="1600350" y="2351606"/>
            <a:ext cx="1876800" cy="51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358" name="Google Shape;358;g3910c504689_2_61"/>
          <p:cNvSpPr txBox="1"/>
          <p:nvPr/>
        </p:nvSpPr>
        <p:spPr>
          <a:xfrm>
            <a:off x="1343525" y="1175019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87.5%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g3910c504689_2_61"/>
          <p:cNvSpPr txBox="1"/>
          <p:nvPr/>
        </p:nvSpPr>
        <p:spPr>
          <a:xfrm>
            <a:off x="1919975" y="1460969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g3910c504689_2_61"/>
          <p:cNvSpPr txBox="1"/>
          <p:nvPr/>
        </p:nvSpPr>
        <p:spPr>
          <a:xfrm>
            <a:off x="2468425" y="1749469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12.5%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g3910c504689_2_61"/>
          <p:cNvSpPr txBox="1"/>
          <p:nvPr/>
        </p:nvSpPr>
        <p:spPr>
          <a:xfrm>
            <a:off x="246175" y="990244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g3910c504689_2_61"/>
          <p:cNvSpPr txBox="1"/>
          <p:nvPr/>
        </p:nvSpPr>
        <p:spPr>
          <a:xfrm>
            <a:off x="4069450" y="3313676"/>
            <a:ext cx="5074550" cy="483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CO" sz="90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Fuente: Datos tomados de los Informes de Módulos del proceso RLT-CLT 2025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10c504689_3_17"/>
          <p:cNvSpPr/>
          <p:nvPr/>
        </p:nvSpPr>
        <p:spPr>
          <a:xfrm rot="5400000">
            <a:off x="3771300" y="-213775"/>
            <a:ext cx="1601400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910c504689_3_17"/>
          <p:cNvSpPr txBox="1">
            <a:spLocks noGrp="1"/>
          </p:cNvSpPr>
          <p:nvPr>
            <p:ph type="body" idx="1"/>
          </p:nvPr>
        </p:nvSpPr>
        <p:spPr>
          <a:xfrm>
            <a:off x="142581" y="3616438"/>
            <a:ext cx="7808700" cy="11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946"/>
              <a:buNone/>
            </a:pPr>
            <a:r>
              <a:rPr lang="es-CO" sz="11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Análisis: </a:t>
            </a: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resultados dan cuenta de logros sobresalientes en el Módulo III. El 75% logró el nivel Avanzado en el Proceso de Trabajo colaborativo implementando principios y herramientas con la comunidad educativa, en el Proceso de Revisión del PEI en relación con la visión compartida, incluyendo prácticas de equidad para una escuela inclusiva, y en el Producto de Consolidado recogiendo prácticas de equidad e inclusión de tres categorías del PEI con propuestas para su actualización. El 25% restante alcanzó el nivel Intermedio en los tres componentes, trabajando con sus equipos y consolidando dos categorías del PEI, como parte de su actualización.</a:t>
            </a:r>
            <a:endParaRPr sz="1100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79" name="Google Shape;379;g3910c504689_3_17"/>
          <p:cNvGraphicFramePr/>
          <p:nvPr>
            <p:extLst>
              <p:ext uri="{D42A27DB-BD31-4B8C-83A1-F6EECF244321}">
                <p14:modId xmlns:p14="http://schemas.microsoft.com/office/powerpoint/2010/main" val="682592653"/>
              </p:ext>
            </p:extLst>
          </p:nvPr>
        </p:nvGraphicFramePr>
        <p:xfrm>
          <a:off x="4307353" y="803952"/>
          <a:ext cx="4594689" cy="2283700"/>
        </p:xfrm>
        <a:graphic>
          <a:graphicData uri="http://schemas.openxmlformats.org/drawingml/2006/table">
            <a:tbl>
              <a:tblPr>
                <a:noFill/>
                <a:tableStyleId>{325ECE54-5A6A-4EC5-BCD4-2FE71682391F}</a:tableStyleId>
              </a:tblPr>
              <a:tblGrid>
                <a:gridCol w="974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i="0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Módulo III Nivel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Proceso: Trabajo colaborativo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Proceso: Revisión del PEI en relación con la visión compartida que incluye prácticas de equidad para una escuela inclusiva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18000" marR="19050" marT="12700" marB="12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Producto: Consolidado que recoge las prácticas de equidad e inclusión identificadas en el PEI o propuestas para su actualización.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Avanzado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75</a:t>
                      </a: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75%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75%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Intermedio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25%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Básico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 evidencia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1" name="Google Shape;381;g3910c504689_3_17"/>
          <p:cNvSpPr txBox="1">
            <a:spLocks noGrp="1"/>
          </p:cNvSpPr>
          <p:nvPr>
            <p:ph type="title"/>
          </p:nvPr>
        </p:nvSpPr>
        <p:spPr>
          <a:xfrm>
            <a:off x="2489004" y="104840"/>
            <a:ext cx="6190016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Font typeface="Montserrat"/>
              <a:buNone/>
            </a:pPr>
            <a:r>
              <a:rPr lang="es-CO" sz="2000" dirty="0">
                <a:solidFill>
                  <a:srgbClr val="E82D7E"/>
                </a:solidFill>
              </a:rPr>
              <a:t>Módulo III </a:t>
            </a:r>
            <a:r>
              <a:rPr lang="es-CO" sz="2000" i="1" dirty="0">
                <a:solidFill>
                  <a:srgbClr val="E82D7E"/>
                </a:solidFill>
              </a:rPr>
              <a:t>“Potenciando Tesoros”</a:t>
            </a:r>
            <a:endParaRPr sz="2000" i="1" dirty="0">
              <a:solidFill>
                <a:srgbClr val="E82D7E"/>
              </a:solidFill>
            </a:endParaRPr>
          </a:p>
        </p:txBody>
      </p:sp>
      <p:grpSp>
        <p:nvGrpSpPr>
          <p:cNvPr id="382" name="Google Shape;382;g3910c504689_3_17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383" name="Google Shape;383;g3910c504689_3_17" title="Coordinadores horizontal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g3910c504689_3_17" title="RLT Horizont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5" name="Google Shape;385;g3910c504689_3_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910c504689_3_17"/>
          <p:cNvSpPr/>
          <p:nvPr/>
        </p:nvSpPr>
        <p:spPr>
          <a:xfrm>
            <a:off x="206304" y="1228233"/>
            <a:ext cx="380400" cy="9363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387" name="Google Shape;387;g3910c504689_3_17"/>
          <p:cNvSpPr/>
          <p:nvPr/>
        </p:nvSpPr>
        <p:spPr>
          <a:xfrm>
            <a:off x="736654" y="1228215"/>
            <a:ext cx="380400" cy="9363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388" name="Google Shape;388;g3910c504689_3_17"/>
          <p:cNvSpPr/>
          <p:nvPr/>
        </p:nvSpPr>
        <p:spPr>
          <a:xfrm>
            <a:off x="1303654" y="1228109"/>
            <a:ext cx="380400" cy="9363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389" name="Google Shape;389;g3910c504689_3_17"/>
          <p:cNvSpPr txBox="1"/>
          <p:nvPr/>
        </p:nvSpPr>
        <p:spPr>
          <a:xfrm>
            <a:off x="295604" y="2798909"/>
            <a:ext cx="203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Trabajo colaborativo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Proceso de Revisión del PEI en relación 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O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 la visión compartida que… 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O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Consolidado que recoge las prácticas de equidad e inclusión identificadas en el PEI 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g3910c504689_3_17"/>
          <p:cNvSpPr txBox="1"/>
          <p:nvPr/>
        </p:nvSpPr>
        <p:spPr>
          <a:xfrm>
            <a:off x="445957" y="2450457"/>
            <a:ext cx="96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Avanzado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1" name="Google Shape;391;g3910c504689_3_17"/>
          <p:cNvCxnSpPr>
            <a:stCxn id="386" idx="2"/>
            <a:endCxn id="390" idx="0"/>
          </p:cNvCxnSpPr>
          <p:nvPr/>
        </p:nvCxnSpPr>
        <p:spPr>
          <a:xfrm rot="-5400000" flipH="1">
            <a:off x="518754" y="2042283"/>
            <a:ext cx="285900" cy="5304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92" name="Google Shape;392;g3910c504689_3_17"/>
          <p:cNvCxnSpPr>
            <a:stCxn id="387" idx="2"/>
            <a:endCxn id="390" idx="0"/>
          </p:cNvCxnSpPr>
          <p:nvPr/>
        </p:nvCxnSpPr>
        <p:spPr>
          <a:xfrm rot="-5400000" flipH="1">
            <a:off x="784204" y="2307165"/>
            <a:ext cx="285900" cy="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93" name="Google Shape;393;g3910c504689_3_17"/>
          <p:cNvCxnSpPr>
            <a:stCxn id="388" idx="2"/>
            <a:endCxn id="390" idx="0"/>
          </p:cNvCxnSpPr>
          <p:nvPr/>
        </p:nvCxnSpPr>
        <p:spPr>
          <a:xfrm rot="5400000">
            <a:off x="1067404" y="2023859"/>
            <a:ext cx="285900" cy="567000"/>
          </a:xfrm>
          <a:prstGeom prst="bentConnector3">
            <a:avLst>
              <a:gd name="adj1" fmla="val 50026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4" name="Google Shape;394;g3910c504689_3_17"/>
          <p:cNvSpPr/>
          <p:nvPr/>
        </p:nvSpPr>
        <p:spPr>
          <a:xfrm>
            <a:off x="263929" y="2890515"/>
            <a:ext cx="54900" cy="549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3910c504689_3_17"/>
          <p:cNvSpPr/>
          <p:nvPr/>
        </p:nvSpPr>
        <p:spPr>
          <a:xfrm>
            <a:off x="263929" y="3002315"/>
            <a:ext cx="54900" cy="549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3910c504689_3_17"/>
          <p:cNvSpPr/>
          <p:nvPr/>
        </p:nvSpPr>
        <p:spPr>
          <a:xfrm>
            <a:off x="263929" y="3091665"/>
            <a:ext cx="54900" cy="549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g3910c504689_3_17"/>
          <p:cNvSpPr/>
          <p:nvPr/>
        </p:nvSpPr>
        <p:spPr>
          <a:xfrm>
            <a:off x="193354" y="2836493"/>
            <a:ext cx="2034000" cy="531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910c504689_3_17"/>
          <p:cNvSpPr/>
          <p:nvPr/>
        </p:nvSpPr>
        <p:spPr>
          <a:xfrm>
            <a:off x="1781779" y="1709455"/>
            <a:ext cx="380400" cy="4551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399" name="Google Shape;399;g3910c504689_3_17"/>
          <p:cNvSpPr/>
          <p:nvPr/>
        </p:nvSpPr>
        <p:spPr>
          <a:xfrm>
            <a:off x="2312129" y="1709489"/>
            <a:ext cx="380400" cy="4551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400" name="Google Shape;400;g3910c504689_3_17"/>
          <p:cNvSpPr txBox="1"/>
          <p:nvPr/>
        </p:nvSpPr>
        <p:spPr>
          <a:xfrm>
            <a:off x="2021432" y="2450457"/>
            <a:ext cx="96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Intermedio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1" name="Google Shape;401;g3910c504689_3_17"/>
          <p:cNvCxnSpPr>
            <a:stCxn id="398" idx="2"/>
            <a:endCxn id="400" idx="0"/>
          </p:cNvCxnSpPr>
          <p:nvPr/>
        </p:nvCxnSpPr>
        <p:spPr>
          <a:xfrm rot="-5400000" flipH="1">
            <a:off x="2094229" y="2042305"/>
            <a:ext cx="285900" cy="530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02" name="Google Shape;402;g3910c504689_3_17"/>
          <p:cNvCxnSpPr>
            <a:stCxn id="399" idx="2"/>
            <a:endCxn id="400" idx="0"/>
          </p:cNvCxnSpPr>
          <p:nvPr/>
        </p:nvCxnSpPr>
        <p:spPr>
          <a:xfrm rot="-5400000" flipH="1">
            <a:off x="2359679" y="2307239"/>
            <a:ext cx="285900" cy="6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03" name="Google Shape;403;g3910c504689_3_17"/>
          <p:cNvSpPr txBox="1"/>
          <p:nvPr/>
        </p:nvSpPr>
        <p:spPr>
          <a:xfrm>
            <a:off x="2294053" y="1363480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sz="8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g3910c504689_3_17"/>
          <p:cNvSpPr txBox="1"/>
          <p:nvPr/>
        </p:nvSpPr>
        <p:spPr>
          <a:xfrm>
            <a:off x="737067" y="851211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g3910c504689_3_17"/>
          <p:cNvSpPr txBox="1"/>
          <p:nvPr/>
        </p:nvSpPr>
        <p:spPr>
          <a:xfrm>
            <a:off x="4452445" y="3352168"/>
            <a:ext cx="5169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CO" sz="900" i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Fuente: Datos tomados de los Informes de Módulos del proceso RLT-CLT 2025</a:t>
            </a:r>
            <a:endParaRPr sz="1300" dirty="0"/>
          </a:p>
        </p:txBody>
      </p:sp>
      <p:sp>
        <p:nvSpPr>
          <p:cNvPr id="406" name="Google Shape;406;g3910c504689_3_17"/>
          <p:cNvSpPr/>
          <p:nvPr/>
        </p:nvSpPr>
        <p:spPr>
          <a:xfrm>
            <a:off x="2815829" y="1702709"/>
            <a:ext cx="380400" cy="4617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cxnSp>
        <p:nvCxnSpPr>
          <p:cNvPr id="407" name="Google Shape;407;g3910c504689_3_17"/>
          <p:cNvCxnSpPr>
            <a:stCxn id="406" idx="2"/>
            <a:endCxn id="400" idx="0"/>
          </p:cNvCxnSpPr>
          <p:nvPr/>
        </p:nvCxnSpPr>
        <p:spPr>
          <a:xfrm rot="5400000">
            <a:off x="2611229" y="2055509"/>
            <a:ext cx="285900" cy="503700"/>
          </a:xfrm>
          <a:prstGeom prst="bentConnector3">
            <a:avLst>
              <a:gd name="adj1" fmla="val 50026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08" name="Google Shape;408;g3910c504689_3_17"/>
          <p:cNvSpPr txBox="1"/>
          <p:nvPr/>
        </p:nvSpPr>
        <p:spPr>
          <a:xfrm>
            <a:off x="3259645" y="1868102"/>
            <a:ext cx="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g3910c504689_3_17"/>
          <p:cNvSpPr txBox="1"/>
          <p:nvPr/>
        </p:nvSpPr>
        <p:spPr>
          <a:xfrm>
            <a:off x="3533494" y="1868102"/>
            <a:ext cx="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g3910c504689_3_17"/>
          <p:cNvSpPr txBox="1"/>
          <p:nvPr/>
        </p:nvSpPr>
        <p:spPr>
          <a:xfrm>
            <a:off x="3136345" y="2450883"/>
            <a:ext cx="62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Básico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g3910c504689_3_17"/>
          <p:cNvSpPr txBox="1"/>
          <p:nvPr/>
        </p:nvSpPr>
        <p:spPr>
          <a:xfrm>
            <a:off x="3286294" y="2707321"/>
            <a:ext cx="87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 evidencia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2" name="Google Shape;412;g3910c504689_3_17"/>
          <p:cNvCxnSpPr>
            <a:stCxn id="408" idx="2"/>
            <a:endCxn id="410" idx="0"/>
          </p:cNvCxnSpPr>
          <p:nvPr/>
        </p:nvCxnSpPr>
        <p:spPr>
          <a:xfrm>
            <a:off x="3449845" y="2175902"/>
            <a:ext cx="0" cy="2751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13" name="Google Shape;413;g3910c504689_3_17"/>
          <p:cNvCxnSpPr>
            <a:stCxn id="409" idx="2"/>
            <a:endCxn id="411" idx="0"/>
          </p:cNvCxnSpPr>
          <p:nvPr/>
        </p:nvCxnSpPr>
        <p:spPr>
          <a:xfrm>
            <a:off x="3723694" y="2175902"/>
            <a:ext cx="0" cy="5313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14" name="Google Shape;414;g3910c504689_3_17"/>
          <p:cNvCxnSpPr/>
          <p:nvPr/>
        </p:nvCxnSpPr>
        <p:spPr>
          <a:xfrm>
            <a:off x="1466104" y="2305334"/>
            <a:ext cx="2253900" cy="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Google Shape;404;g3910c504689_3_17">
            <a:extLst>
              <a:ext uri="{FF2B5EF4-FFF2-40B4-BE49-F238E27FC236}">
                <a16:creationId xmlns:a16="http://schemas.microsoft.com/office/drawing/2014/main" id="{B3C6CA0E-1303-6972-FA8A-54FCE84F1CFE}"/>
              </a:ext>
            </a:extLst>
          </p:cNvPr>
          <p:cNvSpPr txBox="1"/>
          <p:nvPr/>
        </p:nvSpPr>
        <p:spPr>
          <a:xfrm>
            <a:off x="178055" y="841334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404;g3910c504689_3_17">
            <a:extLst>
              <a:ext uri="{FF2B5EF4-FFF2-40B4-BE49-F238E27FC236}">
                <a16:creationId xmlns:a16="http://schemas.microsoft.com/office/drawing/2014/main" id="{6FCE728A-7C28-8C3A-3E49-0224D63924EC}"/>
              </a:ext>
            </a:extLst>
          </p:cNvPr>
          <p:cNvSpPr txBox="1"/>
          <p:nvPr/>
        </p:nvSpPr>
        <p:spPr>
          <a:xfrm>
            <a:off x="1289521" y="823754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403;g3910c504689_3_17">
            <a:extLst>
              <a:ext uri="{FF2B5EF4-FFF2-40B4-BE49-F238E27FC236}">
                <a16:creationId xmlns:a16="http://schemas.microsoft.com/office/drawing/2014/main" id="{D138E5CF-862E-20F1-D794-29261AAF1332}"/>
              </a:ext>
            </a:extLst>
          </p:cNvPr>
          <p:cNvSpPr txBox="1"/>
          <p:nvPr/>
        </p:nvSpPr>
        <p:spPr>
          <a:xfrm>
            <a:off x="1768999" y="1367947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sz="8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03;g3910c504689_3_17">
            <a:extLst>
              <a:ext uri="{FF2B5EF4-FFF2-40B4-BE49-F238E27FC236}">
                <a16:creationId xmlns:a16="http://schemas.microsoft.com/office/drawing/2014/main" id="{CFF96C14-2B7E-475C-0ED1-53271550734F}"/>
              </a:ext>
            </a:extLst>
          </p:cNvPr>
          <p:cNvSpPr txBox="1"/>
          <p:nvPr/>
        </p:nvSpPr>
        <p:spPr>
          <a:xfrm>
            <a:off x="2746687" y="1362662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sz="8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10c504689_3_68"/>
          <p:cNvSpPr/>
          <p:nvPr/>
        </p:nvSpPr>
        <p:spPr>
          <a:xfrm rot="5400000">
            <a:off x="3771300" y="-213775"/>
            <a:ext cx="1601400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910c504689_3_68"/>
          <p:cNvSpPr txBox="1">
            <a:spLocks noGrp="1"/>
          </p:cNvSpPr>
          <p:nvPr>
            <p:ph type="body" idx="1"/>
          </p:nvPr>
        </p:nvSpPr>
        <p:spPr>
          <a:xfrm>
            <a:off x="142581" y="3504910"/>
            <a:ext cx="7867500" cy="13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946"/>
              <a:buNone/>
            </a:pPr>
            <a:r>
              <a:rPr lang="es-CO" sz="11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Análisis: </a:t>
            </a:r>
            <a:r>
              <a:rPr lang="es-CO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el Módulo IV en el Proceso de Planeación participativa basada en la revisión del PEI y en el trabajo en red, el 62.5% alcanzó el nivel Avanzado planeando con la comunidad educativa e incluyéndola en la toma de decisiones, mientras que el 37.5% se encuentra en nivel Intermedio tomando decisiones inicialmente con sus equipos de trabajo. Respecto al Producto de Plan de acción basado en la evaluación institucional, el 75% logró el nivel Avanzado construyendo un plan completo que incluye objetivo, metas, indicadores, actividades, responsables, tiempos y relación con el Plan de Mejoramiento Institucional (PMI), y el 25% en nivel Intermedio con un plan que incluye algunos aspectos como: objetivo, actividades, responsables, tiempos y relación con el PMI.</a:t>
            </a:r>
            <a:endParaRPr sz="11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31" name="Google Shape;431;g3910c504689_3_68"/>
          <p:cNvGraphicFramePr/>
          <p:nvPr>
            <p:extLst>
              <p:ext uri="{D42A27DB-BD31-4B8C-83A1-F6EECF244321}">
                <p14:modId xmlns:p14="http://schemas.microsoft.com/office/powerpoint/2010/main" val="2792288023"/>
              </p:ext>
            </p:extLst>
          </p:nvPr>
        </p:nvGraphicFramePr>
        <p:xfrm>
          <a:off x="4324220" y="1146030"/>
          <a:ext cx="4572675" cy="1674100"/>
        </p:xfrm>
        <a:graphic>
          <a:graphicData uri="http://schemas.openxmlformats.org/drawingml/2006/table">
            <a:tbl>
              <a:tblPr>
                <a:noFill/>
                <a:tableStyleId>{325ECE54-5A6A-4EC5-BCD4-2FE71682391F}</a:tableStyleId>
              </a:tblPr>
              <a:tblGrid>
                <a:gridCol w="1018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i="0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Módulo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IV </a:t>
                      </a:r>
                      <a:r>
                        <a:rPr lang="es-CO" sz="1000" i="0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Nivel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00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Proceso: Planeación participativa basada en la revisión del PEI y en el trabajo en red</a:t>
                      </a: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endParaRPr sz="1000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000" marR="19050" marT="12700" marB="12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1000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Producto</a:t>
                      </a:r>
                      <a:r>
                        <a:rPr lang="es-CO" sz="1000" b="0" i="0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Plan de acción basado en la evaluación institucional</a:t>
                      </a: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000" marR="19050" marT="12700" marB="12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2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Avanzado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62.5%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75%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Intermedio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37.5%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25%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Básico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 evidencia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9050" marR="19050" marT="12700" marB="12700" anchor="ctr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O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7325" marR="17325" marT="11550" marB="11550" anchor="b">
                    <a:lnL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2D7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2" name="Google Shape;432;g3910c504689_3_68"/>
          <p:cNvSpPr txBox="1">
            <a:spLocks noGrp="1"/>
          </p:cNvSpPr>
          <p:nvPr>
            <p:ph type="title"/>
          </p:nvPr>
        </p:nvSpPr>
        <p:spPr>
          <a:xfrm>
            <a:off x="2436978" y="94126"/>
            <a:ext cx="6144112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Font typeface="Montserrat"/>
              <a:buNone/>
            </a:pPr>
            <a:r>
              <a:rPr lang="es-CO" sz="2000" dirty="0">
                <a:solidFill>
                  <a:srgbClr val="E82D7E"/>
                </a:solidFill>
              </a:rPr>
              <a:t>Módulo IV </a:t>
            </a:r>
            <a:r>
              <a:rPr lang="es-CO" sz="2000" i="1" dirty="0">
                <a:solidFill>
                  <a:srgbClr val="E82D7E"/>
                </a:solidFill>
              </a:rPr>
              <a:t>“Tejiendo Puentes”</a:t>
            </a:r>
            <a:endParaRPr sz="2000" i="1" dirty="0">
              <a:solidFill>
                <a:srgbClr val="E82D7E"/>
              </a:solidFill>
            </a:endParaRPr>
          </a:p>
        </p:txBody>
      </p:sp>
      <p:grpSp>
        <p:nvGrpSpPr>
          <p:cNvPr id="433" name="Google Shape;433;g3910c504689_3_68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434" name="Google Shape;434;g3910c504689_3_68" title="Coordinadores horizontal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g3910c504689_3_68" title="RLT Horizont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6" name="Google Shape;436;g3910c504689_3_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910c504689_3_68"/>
          <p:cNvSpPr/>
          <p:nvPr/>
        </p:nvSpPr>
        <p:spPr>
          <a:xfrm>
            <a:off x="775475" y="1429927"/>
            <a:ext cx="380400" cy="6465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438" name="Google Shape;438;g3910c504689_3_68"/>
          <p:cNvSpPr/>
          <p:nvPr/>
        </p:nvSpPr>
        <p:spPr>
          <a:xfrm>
            <a:off x="1305829" y="1140115"/>
            <a:ext cx="380400" cy="9363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439" name="Google Shape;439;g3910c504689_3_68"/>
          <p:cNvSpPr txBox="1"/>
          <p:nvPr/>
        </p:nvSpPr>
        <p:spPr>
          <a:xfrm>
            <a:off x="833100" y="2700051"/>
            <a:ext cx="203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O" sz="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Planeación participativa basada en la revisión del PEI y en el trabajo en red</a:t>
            </a:r>
            <a:endParaRPr sz="9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 de acción basado en la evaluación institucional</a:t>
            </a:r>
            <a:endParaRPr sz="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g3910c504689_3_68"/>
          <p:cNvSpPr txBox="1"/>
          <p:nvPr/>
        </p:nvSpPr>
        <p:spPr>
          <a:xfrm>
            <a:off x="749982" y="2362357"/>
            <a:ext cx="96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Avanzado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1" name="Google Shape;441;g3910c504689_3_68"/>
          <p:cNvCxnSpPr>
            <a:stCxn id="437" idx="2"/>
            <a:endCxn id="440" idx="0"/>
          </p:cNvCxnSpPr>
          <p:nvPr/>
        </p:nvCxnSpPr>
        <p:spPr>
          <a:xfrm rot="-5400000" flipH="1">
            <a:off x="955325" y="2086777"/>
            <a:ext cx="285900" cy="2652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42" name="Google Shape;442;g3910c504689_3_68"/>
          <p:cNvCxnSpPr>
            <a:stCxn id="438" idx="2"/>
            <a:endCxn id="440" idx="0"/>
          </p:cNvCxnSpPr>
          <p:nvPr/>
        </p:nvCxnSpPr>
        <p:spPr>
          <a:xfrm rot="5400000">
            <a:off x="1220479" y="2086765"/>
            <a:ext cx="285900" cy="2652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43" name="Google Shape;443;g3910c504689_3_68"/>
          <p:cNvSpPr/>
          <p:nvPr/>
        </p:nvSpPr>
        <p:spPr>
          <a:xfrm>
            <a:off x="833104" y="2810066"/>
            <a:ext cx="54900" cy="549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3910c504689_3_68"/>
          <p:cNvSpPr/>
          <p:nvPr/>
        </p:nvSpPr>
        <p:spPr>
          <a:xfrm>
            <a:off x="775475" y="2719125"/>
            <a:ext cx="1943400" cy="482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g3910c504689_3_68"/>
          <p:cNvSpPr/>
          <p:nvPr/>
        </p:nvSpPr>
        <p:spPr>
          <a:xfrm>
            <a:off x="1836278" y="1737752"/>
            <a:ext cx="380400" cy="3387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446" name="Google Shape;446;g3910c504689_3_68"/>
          <p:cNvSpPr/>
          <p:nvPr/>
        </p:nvSpPr>
        <p:spPr>
          <a:xfrm>
            <a:off x="2366628" y="1901044"/>
            <a:ext cx="380400" cy="1755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86500" tIns="86500" rIns="86500" bIns="86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4"/>
          </a:p>
        </p:txBody>
      </p:sp>
      <p:sp>
        <p:nvSpPr>
          <p:cNvPr id="447" name="Google Shape;447;g3910c504689_3_68"/>
          <p:cNvSpPr txBox="1"/>
          <p:nvPr/>
        </p:nvSpPr>
        <p:spPr>
          <a:xfrm>
            <a:off x="1836285" y="2362357"/>
            <a:ext cx="96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Intermedio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8" name="Google Shape;448;g3910c504689_3_68"/>
          <p:cNvCxnSpPr>
            <a:stCxn id="445" idx="2"/>
            <a:endCxn id="447" idx="0"/>
          </p:cNvCxnSpPr>
          <p:nvPr/>
        </p:nvCxnSpPr>
        <p:spPr>
          <a:xfrm rot="-5400000" flipH="1">
            <a:off x="2028878" y="2074052"/>
            <a:ext cx="285900" cy="2907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49" name="Google Shape;449;g3910c504689_3_68"/>
          <p:cNvCxnSpPr>
            <a:stCxn id="446" idx="2"/>
            <a:endCxn id="447" idx="0"/>
          </p:cNvCxnSpPr>
          <p:nvPr/>
        </p:nvCxnSpPr>
        <p:spPr>
          <a:xfrm rot="5400000">
            <a:off x="2294028" y="2099644"/>
            <a:ext cx="285900" cy="239700"/>
          </a:xfrm>
          <a:prstGeom prst="bentConnector3">
            <a:avLst>
              <a:gd name="adj1" fmla="val 49985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50" name="Google Shape;450;g3910c504689_3_68"/>
          <p:cNvSpPr txBox="1"/>
          <p:nvPr/>
        </p:nvSpPr>
        <p:spPr>
          <a:xfrm>
            <a:off x="2360793" y="1649578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sz="8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g3910c504689_3_68"/>
          <p:cNvSpPr txBox="1"/>
          <p:nvPr/>
        </p:nvSpPr>
        <p:spPr>
          <a:xfrm>
            <a:off x="712629" y="1172945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62.5%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g3910c504689_3_68"/>
          <p:cNvSpPr txBox="1"/>
          <p:nvPr/>
        </p:nvSpPr>
        <p:spPr>
          <a:xfrm>
            <a:off x="3880726" y="3305600"/>
            <a:ext cx="5169900" cy="483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CO" sz="90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Fuente: Datos tomados de los Informes de Módulos del proceso RLT-CLT 2025</a:t>
            </a:r>
            <a:endParaRPr sz="1300"/>
          </a:p>
        </p:txBody>
      </p:sp>
      <p:sp>
        <p:nvSpPr>
          <p:cNvPr id="453" name="Google Shape;453;g3910c504689_3_68"/>
          <p:cNvSpPr txBox="1"/>
          <p:nvPr/>
        </p:nvSpPr>
        <p:spPr>
          <a:xfrm>
            <a:off x="2883021" y="1780002"/>
            <a:ext cx="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g3910c504689_3_68"/>
          <p:cNvSpPr txBox="1"/>
          <p:nvPr/>
        </p:nvSpPr>
        <p:spPr>
          <a:xfrm>
            <a:off x="3156870" y="1780002"/>
            <a:ext cx="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g3910c504689_3_68"/>
          <p:cNvSpPr txBox="1"/>
          <p:nvPr/>
        </p:nvSpPr>
        <p:spPr>
          <a:xfrm>
            <a:off x="2759721" y="2362783"/>
            <a:ext cx="62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Básico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g3910c504689_3_68"/>
          <p:cNvSpPr txBox="1"/>
          <p:nvPr/>
        </p:nvSpPr>
        <p:spPr>
          <a:xfrm>
            <a:off x="2909667" y="2689421"/>
            <a:ext cx="87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 evidencia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7" name="Google Shape;457;g3910c504689_3_68"/>
          <p:cNvCxnSpPr>
            <a:stCxn id="453" idx="2"/>
            <a:endCxn id="455" idx="0"/>
          </p:cNvCxnSpPr>
          <p:nvPr/>
        </p:nvCxnSpPr>
        <p:spPr>
          <a:xfrm>
            <a:off x="3073221" y="2087802"/>
            <a:ext cx="0" cy="2751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58" name="Google Shape;458;g3910c504689_3_68"/>
          <p:cNvCxnSpPr>
            <a:stCxn id="454" idx="2"/>
            <a:endCxn id="456" idx="0"/>
          </p:cNvCxnSpPr>
          <p:nvPr/>
        </p:nvCxnSpPr>
        <p:spPr>
          <a:xfrm>
            <a:off x="3347070" y="2087802"/>
            <a:ext cx="0" cy="60150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59" name="Google Shape;459;g3910c504689_3_68"/>
          <p:cNvCxnSpPr/>
          <p:nvPr/>
        </p:nvCxnSpPr>
        <p:spPr>
          <a:xfrm>
            <a:off x="1089480" y="2217234"/>
            <a:ext cx="2253900" cy="0"/>
          </a:xfrm>
          <a:prstGeom prst="straightConnector1">
            <a:avLst/>
          </a:prstGeom>
          <a:noFill/>
          <a:ln w="9525" cap="flat" cmpd="sng">
            <a:solidFill>
              <a:srgbClr val="E82D7E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60" name="Google Shape;460;g3910c504689_3_68"/>
          <p:cNvSpPr txBox="1"/>
          <p:nvPr/>
        </p:nvSpPr>
        <p:spPr>
          <a:xfrm>
            <a:off x="1303267" y="864783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 sz="8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g3910c504689_3_68"/>
          <p:cNvSpPr txBox="1"/>
          <p:nvPr/>
        </p:nvSpPr>
        <p:spPr>
          <a:xfrm>
            <a:off x="1799545" y="1495050"/>
            <a:ext cx="50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37.5%</a:t>
            </a:r>
            <a:endParaRPr sz="800" b="1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g3910c504689_3_68"/>
          <p:cNvSpPr/>
          <p:nvPr/>
        </p:nvSpPr>
        <p:spPr>
          <a:xfrm>
            <a:off x="833104" y="2999238"/>
            <a:ext cx="54900" cy="549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8299D450-96D2-D5C0-6286-8038A9D9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7">
            <a:extLst>
              <a:ext uri="{FF2B5EF4-FFF2-40B4-BE49-F238E27FC236}">
                <a16:creationId xmlns:a16="http://schemas.microsoft.com/office/drawing/2014/main" id="{76438ADA-0748-93D3-4F1D-9DB0CB0956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5703" y="3918684"/>
            <a:ext cx="2035743" cy="950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775129AF-B735-6365-9BA7-12DE1D4DB2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6602" y="0"/>
            <a:ext cx="4641853" cy="403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>
            <a:extLst>
              <a:ext uri="{FF2B5EF4-FFF2-40B4-BE49-F238E27FC236}">
                <a16:creationId xmlns:a16="http://schemas.microsoft.com/office/drawing/2014/main" id="{1D6B58F3-3C9C-A06F-0116-923CDBB79028}"/>
              </a:ext>
            </a:extLst>
          </p:cNvPr>
          <p:cNvSpPr/>
          <p:nvPr/>
        </p:nvSpPr>
        <p:spPr>
          <a:xfrm rot="5400000">
            <a:off x="3446768" y="-560915"/>
            <a:ext cx="2279374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D3D21BA3-F4EE-A035-4B11-8986D48C2A5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67301" y="1140699"/>
            <a:ext cx="5135428" cy="10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 dirty="0">
                <a:solidFill>
                  <a:srgbClr val="E82D7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4. Proyecciones para la sostenibilidad del liderazgo</a:t>
            </a:r>
            <a:endParaRPr sz="3000" dirty="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33" name="Google Shape;133;p7">
            <a:extLst>
              <a:ext uri="{FF2B5EF4-FFF2-40B4-BE49-F238E27FC236}">
                <a16:creationId xmlns:a16="http://schemas.microsoft.com/office/drawing/2014/main" id="{95EF5401-35C3-132D-415F-B500D946B091}"/>
              </a:ext>
            </a:extLst>
          </p:cNvPr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134" name="Google Shape;134;p7" title="Coordinadores horizontal.png">
              <a:extLst>
                <a:ext uri="{FF2B5EF4-FFF2-40B4-BE49-F238E27FC236}">
                  <a16:creationId xmlns:a16="http://schemas.microsoft.com/office/drawing/2014/main" id="{D9E37248-6397-2C48-7740-40D7C062D535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7" title="RLT Horizontal.png">
              <a:extLst>
                <a:ext uri="{FF2B5EF4-FFF2-40B4-BE49-F238E27FC236}">
                  <a16:creationId xmlns:a16="http://schemas.microsoft.com/office/drawing/2014/main" id="{7CD56142-DCBC-3A80-2C58-4A7087C831F5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6" name="Google Shape;136;p7">
            <a:extLst>
              <a:ext uri="{FF2B5EF4-FFF2-40B4-BE49-F238E27FC236}">
                <a16:creationId xmlns:a16="http://schemas.microsoft.com/office/drawing/2014/main" id="{9441BCF5-47FE-DCD7-4DEA-03A0C936496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>
            <a:extLst>
              <a:ext uri="{FF2B5EF4-FFF2-40B4-BE49-F238E27FC236}">
                <a16:creationId xmlns:a16="http://schemas.microsoft.com/office/drawing/2014/main" id="{7C5715C0-1468-1155-767A-E3F83C9ED2F6}"/>
              </a:ext>
            </a:extLst>
          </p:cNvPr>
          <p:cNvSpPr txBox="1"/>
          <p:nvPr/>
        </p:nvSpPr>
        <p:spPr>
          <a:xfrm>
            <a:off x="7597125" y="106350"/>
            <a:ext cx="14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09583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910c504689_3_173"/>
          <p:cNvSpPr/>
          <p:nvPr/>
        </p:nvSpPr>
        <p:spPr>
          <a:xfrm>
            <a:off x="5641442" y="1281213"/>
            <a:ext cx="2811300" cy="8313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36" name="Google Shape;536;g3910c504689_3_173"/>
          <p:cNvSpPr/>
          <p:nvPr/>
        </p:nvSpPr>
        <p:spPr>
          <a:xfrm>
            <a:off x="5646374" y="2174136"/>
            <a:ext cx="2811300" cy="83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37" name="Google Shape;537;g3910c504689_3_173"/>
          <p:cNvSpPr/>
          <p:nvPr/>
        </p:nvSpPr>
        <p:spPr>
          <a:xfrm>
            <a:off x="5692448" y="3067033"/>
            <a:ext cx="2811300" cy="8313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38" name="Google Shape;538;g3910c504689_3_173"/>
          <p:cNvSpPr txBox="1">
            <a:spLocks noGrp="1"/>
          </p:cNvSpPr>
          <p:nvPr>
            <p:ph type="title"/>
          </p:nvPr>
        </p:nvSpPr>
        <p:spPr>
          <a:xfrm>
            <a:off x="1563228" y="547640"/>
            <a:ext cx="6224375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2000" dirty="0">
                <a:solidFill>
                  <a:srgbClr val="E82D7E"/>
                </a:solidFill>
              </a:rPr>
              <a:t>Proyecciones para un liderazgo sostenible</a:t>
            </a:r>
            <a:endParaRPr sz="2000" dirty="0">
              <a:solidFill>
                <a:srgbClr val="E82D7E"/>
              </a:solidFill>
            </a:endParaRPr>
          </a:p>
        </p:txBody>
      </p:sp>
      <p:sp>
        <p:nvSpPr>
          <p:cNvPr id="539" name="Google Shape;539;g3910c504689_3_173"/>
          <p:cNvSpPr/>
          <p:nvPr/>
        </p:nvSpPr>
        <p:spPr>
          <a:xfrm>
            <a:off x="657912" y="1281213"/>
            <a:ext cx="2811300" cy="8313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40" name="Google Shape;540;g3910c504689_3_173"/>
          <p:cNvSpPr/>
          <p:nvPr/>
        </p:nvSpPr>
        <p:spPr>
          <a:xfrm>
            <a:off x="3685508" y="1654735"/>
            <a:ext cx="1671400" cy="1870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41" name="Google Shape;541;g3910c504689_3_173"/>
          <p:cNvSpPr txBox="1"/>
          <p:nvPr/>
        </p:nvSpPr>
        <p:spPr>
          <a:xfrm>
            <a:off x="3687596" y="1536855"/>
            <a:ext cx="1708064" cy="20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50" tIns="97050" rIns="97050" bIns="9705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48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200" b="1" i="0" u="none" strike="noStrike" kern="0" cap="none" spc="0" normalizeH="0" baseline="0" noProof="0" dirty="0">
                <a:ln>
                  <a:noFill/>
                </a:ln>
                <a:solidFill>
                  <a:srgbClr val="E82D7E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Proyecciones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E82D7E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Los rectores líderes transformadores se comprometen a seguir trabajando en los siguientes aspectos: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g3910c504689_3_173"/>
          <p:cNvSpPr txBox="1"/>
          <p:nvPr/>
        </p:nvSpPr>
        <p:spPr>
          <a:xfrm>
            <a:off x="738396" y="1077818"/>
            <a:ext cx="2763900" cy="113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50" tIns="97050" rIns="97050" bIns="9705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Gestión institucional orientada por el PEI y liderazgo pedagógico: </a:t>
            </a:r>
            <a:r>
              <a:rPr kumimoji="0" lang="es-CO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Fortalecimiento de la orientación pedagógica, la autoconciencia docente y la planeación institucional alineada al PEI.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g3910c504689_3_173"/>
          <p:cNvSpPr txBox="1"/>
          <p:nvPr/>
        </p:nvSpPr>
        <p:spPr>
          <a:xfrm>
            <a:off x="5717304" y="1139440"/>
            <a:ext cx="2688300" cy="993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50" tIns="97050" rIns="97050" bIns="9705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Cultura evaluativa fortalecida:</a:t>
            </a:r>
            <a:r>
              <a:rPr kumimoji="0" lang="es-CO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Docentes formados en evaluación formativa, análisis de resultados y uso pedagógico de la información para el mejoramiento continuo.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g3910c504689_3_173"/>
          <p:cNvSpPr txBox="1"/>
          <p:nvPr/>
        </p:nvSpPr>
        <p:spPr>
          <a:xfrm>
            <a:off x="5665843" y="2021247"/>
            <a:ext cx="2811300" cy="993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50" tIns="97050" rIns="97050" bIns="9705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Excelencia académica e innovación ambiental y cultural: </a:t>
            </a:r>
            <a:r>
              <a:rPr kumimoji="0" lang="es-CO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Aplicación intensiva de PREICFES y fortalecimiento de otros proyectos transversales y medias técnicas institucionales.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g3910c504689_3_173"/>
          <p:cNvSpPr txBox="1"/>
          <p:nvPr/>
        </p:nvSpPr>
        <p:spPr>
          <a:xfrm>
            <a:off x="5731200" y="2952087"/>
            <a:ext cx="2811300" cy="100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50" tIns="97050" rIns="97050" bIns="9705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486"/>
              </a:spcBef>
              <a:spcAft>
                <a:spcPts val="425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Excelencia académica sostenida: </a:t>
            </a:r>
            <a:r>
              <a:rPr kumimoji="0" lang="es-CO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Mejores desempeños en pruebas internas y externas, disminución de rezago educativo y rutas de aprendizaje claras para todos.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g3910c504689_3_173"/>
          <p:cNvSpPr/>
          <p:nvPr/>
        </p:nvSpPr>
        <p:spPr>
          <a:xfrm>
            <a:off x="657912" y="2183713"/>
            <a:ext cx="2811300" cy="83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47" name="Google Shape;547;g3910c504689_3_173"/>
          <p:cNvSpPr txBox="1"/>
          <p:nvPr/>
        </p:nvSpPr>
        <p:spPr>
          <a:xfrm>
            <a:off x="707400" y="2089051"/>
            <a:ext cx="2763900" cy="8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50" tIns="97050" rIns="97050" bIns="9705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Consolidación de las innovaciones educativas:</a:t>
            </a:r>
            <a:r>
              <a:rPr kumimoji="0" lang="es-CO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Escalamiento y apropiación institucional de las innovaciones educativas institucionales.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g3910c504689_3_173"/>
          <p:cNvSpPr/>
          <p:nvPr/>
        </p:nvSpPr>
        <p:spPr>
          <a:xfrm>
            <a:off x="657912" y="3067058"/>
            <a:ext cx="2811300" cy="8313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49" name="Google Shape;549;g3910c504689_3_173"/>
          <p:cNvSpPr txBox="1"/>
          <p:nvPr/>
        </p:nvSpPr>
        <p:spPr>
          <a:xfrm>
            <a:off x="716812" y="2872389"/>
            <a:ext cx="2763900" cy="113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50" tIns="97050" rIns="97050" bIns="9705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Comunidad educativa cohesionada y con sentido ético: </a:t>
            </a:r>
            <a:r>
              <a:rPr kumimoji="0" lang="es-CO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Maestros empoderados desde la ética, familias participando activamente y una comunidad educativa integrada desde el respeto y la corresponsabilidad.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g3910c504689_3_173"/>
          <p:cNvSpPr/>
          <p:nvPr/>
        </p:nvSpPr>
        <p:spPr>
          <a:xfrm>
            <a:off x="248800" y="1441275"/>
            <a:ext cx="511200" cy="5112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51" name="Google Shape;551;g3910c504689_3_173"/>
          <p:cNvSpPr/>
          <p:nvPr/>
        </p:nvSpPr>
        <p:spPr>
          <a:xfrm>
            <a:off x="248800" y="2352463"/>
            <a:ext cx="511200" cy="5112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52" name="Google Shape;552;g3910c504689_3_173"/>
          <p:cNvSpPr/>
          <p:nvPr/>
        </p:nvSpPr>
        <p:spPr>
          <a:xfrm>
            <a:off x="248800" y="3227063"/>
            <a:ext cx="511200" cy="5112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53" name="Google Shape;553;g3910c504689_3_173"/>
          <p:cNvSpPr/>
          <p:nvPr/>
        </p:nvSpPr>
        <p:spPr>
          <a:xfrm>
            <a:off x="8328088" y="1441275"/>
            <a:ext cx="511200" cy="5112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54" name="Google Shape;554;g3910c504689_3_173"/>
          <p:cNvSpPr/>
          <p:nvPr/>
        </p:nvSpPr>
        <p:spPr>
          <a:xfrm>
            <a:off x="8328088" y="2352463"/>
            <a:ext cx="511200" cy="5112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55" name="Google Shape;555;g3910c504689_3_173"/>
          <p:cNvSpPr/>
          <p:nvPr/>
        </p:nvSpPr>
        <p:spPr>
          <a:xfrm>
            <a:off x="8328088" y="3227038"/>
            <a:ext cx="511200" cy="5112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56" name="Google Shape;556;g3910c504689_3_173" title="Mesa de trabajo 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1539525"/>
            <a:ext cx="407690" cy="3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g3910c504689_3_173" title="Mesa de trabajo 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275" y="2462549"/>
            <a:ext cx="262241" cy="3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g3910c504689_3_173" title="Mesa de trabajo 3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2350" y="2452725"/>
            <a:ext cx="342675" cy="3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g3910c504689_3_173" title="Mesa de trabajo 3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12350" y="3298596"/>
            <a:ext cx="342675" cy="368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g3910c504689_3_173" title="Mesa de trabajo 4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1248" y="3336723"/>
            <a:ext cx="326290" cy="3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3910c504689_3_173" title="Mesa de trabajo 4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12350" y="1536856"/>
            <a:ext cx="342675" cy="320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g3910c504689_3_17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g3910c504689_3_173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570" name="Google Shape;570;g3910c504689_3_173" title="Coordinadores horizontal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g3910c504689_3_173" title="RLT Horizontal.png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" name="Google Shape;486;p30">
            <a:extLst>
              <a:ext uri="{FF2B5EF4-FFF2-40B4-BE49-F238E27FC236}">
                <a16:creationId xmlns:a16="http://schemas.microsoft.com/office/drawing/2014/main" id="{0EB8075F-CB4A-75EE-B3BA-A132A99EC795}"/>
              </a:ext>
            </a:extLst>
          </p:cNvPr>
          <p:cNvCxnSpPr>
            <a:cxnSpLocks/>
          </p:cNvCxnSpPr>
          <p:nvPr/>
        </p:nvCxnSpPr>
        <p:spPr>
          <a:xfrm rot="10800000" flipH="1">
            <a:off x="5211624" y="1696725"/>
            <a:ext cx="336900" cy="893100"/>
          </a:xfrm>
          <a:prstGeom prst="bentConnector3">
            <a:avLst>
              <a:gd name="adj1" fmla="val 49985"/>
            </a:avLst>
          </a:prstGeom>
          <a:noFill/>
          <a:ln w="19050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7" name="Google Shape;487;p30">
            <a:extLst>
              <a:ext uri="{FF2B5EF4-FFF2-40B4-BE49-F238E27FC236}">
                <a16:creationId xmlns:a16="http://schemas.microsoft.com/office/drawing/2014/main" id="{9C63F7B0-6BB5-99EC-BBD7-B7E1B2E8C72B}"/>
              </a:ext>
            </a:extLst>
          </p:cNvPr>
          <p:cNvCxnSpPr>
            <a:cxnSpLocks/>
          </p:cNvCxnSpPr>
          <p:nvPr/>
        </p:nvCxnSpPr>
        <p:spPr>
          <a:xfrm>
            <a:off x="5211624" y="2589825"/>
            <a:ext cx="345600" cy="939600"/>
          </a:xfrm>
          <a:prstGeom prst="bentConnector3">
            <a:avLst>
              <a:gd name="adj1" fmla="val 49979"/>
            </a:avLst>
          </a:prstGeom>
          <a:noFill/>
          <a:ln w="19050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8" name="Google Shape;488;p30">
            <a:extLst>
              <a:ext uri="{FF2B5EF4-FFF2-40B4-BE49-F238E27FC236}">
                <a16:creationId xmlns:a16="http://schemas.microsoft.com/office/drawing/2014/main" id="{AD5D0602-F9D0-DB7C-B34D-98C9899930C7}"/>
              </a:ext>
            </a:extLst>
          </p:cNvPr>
          <p:cNvCxnSpPr>
            <a:cxnSpLocks/>
          </p:cNvCxnSpPr>
          <p:nvPr/>
        </p:nvCxnSpPr>
        <p:spPr>
          <a:xfrm>
            <a:off x="5211624" y="2589825"/>
            <a:ext cx="352500" cy="0"/>
          </a:xfrm>
          <a:prstGeom prst="straightConnector1">
            <a:avLst/>
          </a:prstGeom>
          <a:noFill/>
          <a:ln w="19050" cap="flat" cmpd="sng">
            <a:solidFill>
              <a:srgbClr val="E82D7E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" name="Google Shape;491;p30">
            <a:extLst>
              <a:ext uri="{FF2B5EF4-FFF2-40B4-BE49-F238E27FC236}">
                <a16:creationId xmlns:a16="http://schemas.microsoft.com/office/drawing/2014/main" id="{251B82AF-CBF2-6041-170D-F45A196EEA48}"/>
              </a:ext>
            </a:extLst>
          </p:cNvPr>
          <p:cNvCxnSpPr/>
          <p:nvPr/>
        </p:nvCxnSpPr>
        <p:spPr>
          <a:xfrm flipH="1">
            <a:off x="3541238" y="2589675"/>
            <a:ext cx="336900" cy="893100"/>
          </a:xfrm>
          <a:prstGeom prst="bentConnector3">
            <a:avLst>
              <a:gd name="adj1" fmla="val 49985"/>
            </a:avLst>
          </a:prstGeom>
          <a:noFill/>
          <a:ln w="19050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0" name="Google Shape;493;p30">
            <a:extLst>
              <a:ext uri="{FF2B5EF4-FFF2-40B4-BE49-F238E27FC236}">
                <a16:creationId xmlns:a16="http://schemas.microsoft.com/office/drawing/2014/main" id="{E27ED435-9A08-3328-7EC3-C7B255E32509}"/>
              </a:ext>
            </a:extLst>
          </p:cNvPr>
          <p:cNvCxnSpPr/>
          <p:nvPr/>
        </p:nvCxnSpPr>
        <p:spPr>
          <a:xfrm rot="10800000">
            <a:off x="3525638" y="2589675"/>
            <a:ext cx="352500" cy="0"/>
          </a:xfrm>
          <a:prstGeom prst="straightConnector1">
            <a:avLst/>
          </a:prstGeom>
          <a:noFill/>
          <a:ln w="19050" cap="flat" cmpd="sng">
            <a:solidFill>
              <a:srgbClr val="E82D7E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" name="Google Shape;486;p30">
            <a:extLst>
              <a:ext uri="{FF2B5EF4-FFF2-40B4-BE49-F238E27FC236}">
                <a16:creationId xmlns:a16="http://schemas.microsoft.com/office/drawing/2014/main" id="{AA31F6B4-9AD5-3E40-3D07-EF9FFDFC8B96}"/>
              </a:ext>
            </a:extLst>
          </p:cNvPr>
          <p:cNvCxnSpPr>
            <a:cxnSpLocks/>
          </p:cNvCxnSpPr>
          <p:nvPr/>
        </p:nvCxnSpPr>
        <p:spPr>
          <a:xfrm rot="10800000">
            <a:off x="3541238" y="1697951"/>
            <a:ext cx="336900" cy="893100"/>
          </a:xfrm>
          <a:prstGeom prst="bentConnector3">
            <a:avLst>
              <a:gd name="adj1" fmla="val 49985"/>
            </a:avLst>
          </a:prstGeom>
          <a:noFill/>
          <a:ln w="19050" cap="flat" cmpd="sng">
            <a:solidFill>
              <a:srgbClr val="E82D7E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68F1FDBF-0760-8105-4118-3BE176AB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7">
            <a:extLst>
              <a:ext uri="{FF2B5EF4-FFF2-40B4-BE49-F238E27FC236}">
                <a16:creationId xmlns:a16="http://schemas.microsoft.com/office/drawing/2014/main" id="{3BF0B0FE-2D69-94AD-65D7-84C5E3F0E9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5703" y="3918684"/>
            <a:ext cx="2035743" cy="950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78618A2B-430B-E343-F8E5-91CCF8448E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6602" y="0"/>
            <a:ext cx="4641853" cy="403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>
            <a:extLst>
              <a:ext uri="{FF2B5EF4-FFF2-40B4-BE49-F238E27FC236}">
                <a16:creationId xmlns:a16="http://schemas.microsoft.com/office/drawing/2014/main" id="{8BC6C6FE-DD46-0D23-B3F8-87FDC171A98C}"/>
              </a:ext>
            </a:extLst>
          </p:cNvPr>
          <p:cNvSpPr/>
          <p:nvPr/>
        </p:nvSpPr>
        <p:spPr>
          <a:xfrm rot="5400000">
            <a:off x="3446768" y="-560915"/>
            <a:ext cx="2279374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8D62E811-B5D3-2ABC-3A35-25DF14AF8A5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67301" y="1140699"/>
            <a:ext cx="5151756" cy="10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 dirty="0">
                <a:solidFill>
                  <a:srgbClr val="E82D7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5. Indicadores satisfacción </a:t>
            </a:r>
            <a:endParaRPr sz="3000" dirty="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33" name="Google Shape;133;p7">
            <a:extLst>
              <a:ext uri="{FF2B5EF4-FFF2-40B4-BE49-F238E27FC236}">
                <a16:creationId xmlns:a16="http://schemas.microsoft.com/office/drawing/2014/main" id="{45B425FE-953A-C967-052A-602D3AD1FC0D}"/>
              </a:ext>
            </a:extLst>
          </p:cNvPr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134" name="Google Shape;134;p7" title="Coordinadores horizontal.png">
              <a:extLst>
                <a:ext uri="{FF2B5EF4-FFF2-40B4-BE49-F238E27FC236}">
                  <a16:creationId xmlns:a16="http://schemas.microsoft.com/office/drawing/2014/main" id="{C7233E88-B54F-23BB-9F56-8A17920BF9A6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7" title="RLT Horizontal.png">
              <a:extLst>
                <a:ext uri="{FF2B5EF4-FFF2-40B4-BE49-F238E27FC236}">
                  <a16:creationId xmlns:a16="http://schemas.microsoft.com/office/drawing/2014/main" id="{B141C372-9D5E-31D4-C7EA-C8579487096F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6" name="Google Shape;136;p7">
            <a:extLst>
              <a:ext uri="{FF2B5EF4-FFF2-40B4-BE49-F238E27FC236}">
                <a16:creationId xmlns:a16="http://schemas.microsoft.com/office/drawing/2014/main" id="{C5D08481-1DC0-9E99-35E9-8399C3FEB31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>
            <a:extLst>
              <a:ext uri="{FF2B5EF4-FFF2-40B4-BE49-F238E27FC236}">
                <a16:creationId xmlns:a16="http://schemas.microsoft.com/office/drawing/2014/main" id="{3794EC6B-5783-04C4-8ED0-54ECCC8E6E0A}"/>
              </a:ext>
            </a:extLst>
          </p:cNvPr>
          <p:cNvSpPr txBox="1"/>
          <p:nvPr/>
        </p:nvSpPr>
        <p:spPr>
          <a:xfrm>
            <a:off x="7597125" y="106350"/>
            <a:ext cx="14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E82D7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245696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9"/>
          <p:cNvSpPr/>
          <p:nvPr/>
        </p:nvSpPr>
        <p:spPr>
          <a:xfrm>
            <a:off x="248783" y="1489322"/>
            <a:ext cx="4647612" cy="3148665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371123" y="3030917"/>
            <a:ext cx="4388929" cy="620607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CO" sz="16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100% </a:t>
            </a:r>
            <a:r>
              <a:rPr lang="es-CO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s-CO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irectivos docentes que reciben 4 sesiones de </a:t>
            </a:r>
            <a:r>
              <a:rPr lang="es-CO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acompañamiento pedagógico situado</a:t>
            </a:r>
          </a:p>
        </p:txBody>
      </p:sp>
      <p:pic>
        <p:nvPicPr>
          <p:cNvPr id="612" name="Google Shape;61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4917" y="4552824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19"/>
          <p:cNvSpPr txBox="1"/>
          <p:nvPr/>
        </p:nvSpPr>
        <p:spPr>
          <a:xfrm>
            <a:off x="556181" y="1967713"/>
            <a:ext cx="4359375" cy="64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Satisfacción global en los intensivos</a:t>
            </a:r>
          </a:p>
        </p:txBody>
      </p:sp>
      <p:sp>
        <p:nvSpPr>
          <p:cNvPr id="614" name="Google Shape;614;p19"/>
          <p:cNvSpPr txBox="1"/>
          <p:nvPr/>
        </p:nvSpPr>
        <p:spPr>
          <a:xfrm>
            <a:off x="2277487" y="76245"/>
            <a:ext cx="559952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Indicadores de la satisfacción RLT  CLT - 2025</a:t>
            </a:r>
            <a:endParaRPr sz="27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2145154" y="963344"/>
            <a:ext cx="1053300" cy="1053300"/>
          </a:xfrm>
          <a:prstGeom prst="ellipse">
            <a:avLst/>
          </a:prstGeom>
          <a:solidFill>
            <a:srgbClr val="E82D7E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  </a:t>
            </a:r>
            <a:endParaRPr/>
          </a:p>
        </p:txBody>
      </p:sp>
      <p:sp>
        <p:nvSpPr>
          <p:cNvPr id="616" name="Google Shape;616;p19"/>
          <p:cNvSpPr txBox="1"/>
          <p:nvPr/>
        </p:nvSpPr>
        <p:spPr>
          <a:xfrm>
            <a:off x="2017381" y="1109010"/>
            <a:ext cx="1400362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95%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19"/>
          <p:cNvSpPr/>
          <p:nvPr/>
        </p:nvSpPr>
        <p:spPr>
          <a:xfrm>
            <a:off x="5609903" y="1808525"/>
            <a:ext cx="3261953" cy="8313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86"/>
          </a:p>
        </p:txBody>
      </p:sp>
      <p:sp>
        <p:nvSpPr>
          <p:cNvPr id="618" name="Google Shape;618;p19"/>
          <p:cNvSpPr txBox="1"/>
          <p:nvPr/>
        </p:nvSpPr>
        <p:spPr>
          <a:xfrm>
            <a:off x="5643935" y="1731496"/>
            <a:ext cx="3210277" cy="92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50" tIns="97050" rIns="97050" bIns="97050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O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Porcentaje de directivos docentes que </a:t>
            </a:r>
            <a:r>
              <a:rPr lang="es-CO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iniciaron y terminaron </a:t>
            </a:r>
            <a:r>
              <a:rPr lang="es-CO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formación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5609903" y="2709100"/>
            <a:ext cx="3261951" cy="8313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86"/>
          </a:p>
        </p:txBody>
      </p:sp>
      <p:sp>
        <p:nvSpPr>
          <p:cNvPr id="620" name="Google Shape;620;p19"/>
          <p:cNvSpPr txBox="1"/>
          <p:nvPr/>
        </p:nvSpPr>
        <p:spPr>
          <a:xfrm>
            <a:off x="5666271" y="2677603"/>
            <a:ext cx="3210279" cy="92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50" tIns="97050" rIns="97050" bIns="97050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O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Nivel de relevancia atribuida a las actividades de formación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19"/>
          <p:cNvSpPr/>
          <p:nvPr/>
        </p:nvSpPr>
        <p:spPr>
          <a:xfrm>
            <a:off x="5618099" y="3596211"/>
            <a:ext cx="3261950" cy="8313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86"/>
          </a:p>
        </p:txBody>
      </p:sp>
      <p:sp>
        <p:nvSpPr>
          <p:cNvPr id="622" name="Google Shape;622;p19"/>
          <p:cNvSpPr txBox="1"/>
          <p:nvPr/>
        </p:nvSpPr>
        <p:spPr>
          <a:xfrm>
            <a:off x="5762146" y="3548538"/>
            <a:ext cx="3133071" cy="92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50" tIns="97050" rIns="97050" bIns="97050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O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Satisfacción con el equipo local en los intensivos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4" name="Google Shape;624;p19"/>
          <p:cNvSpPr/>
          <p:nvPr/>
        </p:nvSpPr>
        <p:spPr>
          <a:xfrm>
            <a:off x="4993971" y="2879772"/>
            <a:ext cx="511200" cy="5112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  </a:t>
            </a: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4977841" y="3623710"/>
            <a:ext cx="829393" cy="800189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  </a:t>
            </a:r>
            <a:endParaRPr/>
          </a:p>
        </p:txBody>
      </p:sp>
      <p:sp>
        <p:nvSpPr>
          <p:cNvPr id="627" name="Google Shape;627;p19"/>
          <p:cNvSpPr txBox="1"/>
          <p:nvPr/>
        </p:nvSpPr>
        <p:spPr>
          <a:xfrm>
            <a:off x="4945183" y="2956370"/>
            <a:ext cx="6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rgbClr val="E82D7E"/>
                </a:solidFill>
              </a:rPr>
              <a:t>96%</a:t>
            </a:r>
            <a:endParaRPr sz="1200" b="1" dirty="0">
              <a:solidFill>
                <a:srgbClr val="E82D7E"/>
              </a:solidFill>
            </a:endParaRPr>
          </a:p>
        </p:txBody>
      </p:sp>
      <p:sp>
        <p:nvSpPr>
          <p:cNvPr id="628" name="Google Shape;628;p19"/>
          <p:cNvSpPr txBox="1"/>
          <p:nvPr/>
        </p:nvSpPr>
        <p:spPr>
          <a:xfrm>
            <a:off x="4870416" y="3725858"/>
            <a:ext cx="1069924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500" b="1" dirty="0">
                <a:solidFill>
                  <a:srgbClr val="E82D7E"/>
                </a:solidFill>
              </a:rPr>
              <a:t>97%</a:t>
            </a:r>
            <a:endParaRPr sz="2500" b="1" dirty="0">
              <a:solidFill>
                <a:srgbClr val="E82D7E"/>
              </a:solidFill>
            </a:endParaRPr>
          </a:p>
        </p:txBody>
      </p:sp>
      <p:grpSp>
        <p:nvGrpSpPr>
          <p:cNvPr id="2" name="Google Shape;601;p18">
            <a:extLst>
              <a:ext uri="{FF2B5EF4-FFF2-40B4-BE49-F238E27FC236}">
                <a16:creationId xmlns:a16="http://schemas.microsoft.com/office/drawing/2014/main" id="{F28D2693-81AA-A782-C46E-CF8DF666303E}"/>
              </a:ext>
            </a:extLst>
          </p:cNvPr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3" name="Google Shape;602;p18" title="Coordinadores horizontal.png">
              <a:extLst>
                <a:ext uri="{FF2B5EF4-FFF2-40B4-BE49-F238E27FC236}">
                  <a16:creationId xmlns:a16="http://schemas.microsoft.com/office/drawing/2014/main" id="{8EF4D305-A633-FF1B-32E3-4217C8B4798D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603;p18" title="RLT Horizontal.png">
              <a:extLst>
                <a:ext uri="{FF2B5EF4-FFF2-40B4-BE49-F238E27FC236}">
                  <a16:creationId xmlns:a16="http://schemas.microsoft.com/office/drawing/2014/main" id="{969A30A5-B490-7D23-5EAE-A703010D2322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Google Shape;610;p19">
            <a:extLst>
              <a:ext uri="{FF2B5EF4-FFF2-40B4-BE49-F238E27FC236}">
                <a16:creationId xmlns:a16="http://schemas.microsoft.com/office/drawing/2014/main" id="{DC5CA1FC-80EC-CA78-1AF2-2424394EF206}"/>
              </a:ext>
            </a:extLst>
          </p:cNvPr>
          <p:cNvSpPr/>
          <p:nvPr/>
        </p:nvSpPr>
        <p:spPr>
          <a:xfrm>
            <a:off x="371123" y="3774498"/>
            <a:ext cx="4388929" cy="620607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CO" sz="1600" b="1" dirty="0">
                <a:solidFill>
                  <a:srgbClr val="E82D7E"/>
                </a:solidFill>
                <a:latin typeface="Montserrat"/>
                <a:ea typeface="Montserrat"/>
                <a:cs typeface="Montserrat"/>
                <a:sym typeface="Montserrat"/>
              </a:rPr>
              <a:t>100% </a:t>
            </a:r>
            <a:r>
              <a:rPr lang="es-CO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Rectores (as), coordinadores (as)</a:t>
            </a:r>
            <a:r>
              <a:rPr lang="es-CO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reciben 4 </a:t>
            </a:r>
            <a:r>
              <a:rPr lang="es-CO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sesiones de coaching individual</a:t>
            </a:r>
          </a:p>
        </p:txBody>
      </p:sp>
      <p:sp>
        <p:nvSpPr>
          <p:cNvPr id="7" name="Google Shape;625;p19">
            <a:extLst>
              <a:ext uri="{FF2B5EF4-FFF2-40B4-BE49-F238E27FC236}">
                <a16:creationId xmlns:a16="http://schemas.microsoft.com/office/drawing/2014/main" id="{7A814F70-A433-49E5-EF50-8E632B6B42A2}"/>
              </a:ext>
            </a:extLst>
          </p:cNvPr>
          <p:cNvSpPr/>
          <p:nvPr/>
        </p:nvSpPr>
        <p:spPr>
          <a:xfrm>
            <a:off x="4990681" y="2741457"/>
            <a:ext cx="829393" cy="800189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  </a:t>
            </a:r>
            <a:endParaRPr/>
          </a:p>
        </p:txBody>
      </p:sp>
      <p:sp>
        <p:nvSpPr>
          <p:cNvPr id="8" name="Google Shape;625;p19">
            <a:extLst>
              <a:ext uri="{FF2B5EF4-FFF2-40B4-BE49-F238E27FC236}">
                <a16:creationId xmlns:a16="http://schemas.microsoft.com/office/drawing/2014/main" id="{5032202A-D488-07DB-3B5F-C13F0E847F49}"/>
              </a:ext>
            </a:extLst>
          </p:cNvPr>
          <p:cNvSpPr/>
          <p:nvPr/>
        </p:nvSpPr>
        <p:spPr>
          <a:xfrm>
            <a:off x="4940361" y="1827883"/>
            <a:ext cx="829393" cy="800189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E82D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  </a:t>
            </a:r>
            <a:endParaRPr/>
          </a:p>
        </p:txBody>
      </p:sp>
      <p:sp>
        <p:nvSpPr>
          <p:cNvPr id="9" name="Google Shape;628;p19">
            <a:extLst>
              <a:ext uri="{FF2B5EF4-FFF2-40B4-BE49-F238E27FC236}">
                <a16:creationId xmlns:a16="http://schemas.microsoft.com/office/drawing/2014/main" id="{75413D21-C0A5-EAF9-6EEC-0CA20B748F59}"/>
              </a:ext>
            </a:extLst>
          </p:cNvPr>
          <p:cNvSpPr txBox="1"/>
          <p:nvPr/>
        </p:nvSpPr>
        <p:spPr>
          <a:xfrm>
            <a:off x="4820095" y="1940086"/>
            <a:ext cx="1069924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500" b="1" dirty="0">
                <a:solidFill>
                  <a:srgbClr val="E82D7E"/>
                </a:solidFill>
              </a:rPr>
              <a:t>100%</a:t>
            </a:r>
            <a:endParaRPr sz="2500" b="1" dirty="0">
              <a:solidFill>
                <a:srgbClr val="E82D7E"/>
              </a:solidFill>
            </a:endParaRPr>
          </a:p>
        </p:txBody>
      </p:sp>
      <p:sp>
        <p:nvSpPr>
          <p:cNvPr id="10" name="Google Shape;628;p19">
            <a:extLst>
              <a:ext uri="{FF2B5EF4-FFF2-40B4-BE49-F238E27FC236}">
                <a16:creationId xmlns:a16="http://schemas.microsoft.com/office/drawing/2014/main" id="{91464D1E-99CE-4D66-EB3E-C39B675956A7}"/>
              </a:ext>
            </a:extLst>
          </p:cNvPr>
          <p:cNvSpPr txBox="1"/>
          <p:nvPr/>
        </p:nvSpPr>
        <p:spPr>
          <a:xfrm>
            <a:off x="4864784" y="2855868"/>
            <a:ext cx="1069924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500" b="1" dirty="0">
                <a:solidFill>
                  <a:srgbClr val="E82D7E"/>
                </a:solidFill>
              </a:rPr>
              <a:t>96%</a:t>
            </a:r>
            <a:endParaRPr sz="2500" b="1" dirty="0">
              <a:solidFill>
                <a:srgbClr val="E82D7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0"/>
          <p:cNvSpPr txBox="1">
            <a:spLocks noGrp="1"/>
          </p:cNvSpPr>
          <p:nvPr>
            <p:ph type="title"/>
          </p:nvPr>
        </p:nvSpPr>
        <p:spPr>
          <a:xfrm>
            <a:off x="208602" y="1160902"/>
            <a:ext cx="43080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2700" dirty="0">
                <a:solidFill>
                  <a:srgbClr val="E82D7E"/>
                </a:solidFill>
              </a:rPr>
              <a:t>6. Entrega</a:t>
            </a:r>
            <a:endParaRPr sz="2700" dirty="0">
              <a:solidFill>
                <a:srgbClr val="E82D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2700" dirty="0">
                <a:solidFill>
                  <a:srgbClr val="E82D7E"/>
                </a:solidFill>
              </a:rPr>
              <a:t>de informes finales</a:t>
            </a:r>
            <a:endParaRPr sz="2700" b="1"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3" name="Google Shape;6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5703" y="3918684"/>
            <a:ext cx="2035743" cy="950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20" descr="Forma, Círculo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6602" y="0"/>
            <a:ext cx="4641853" cy="403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20"/>
          <p:cNvSpPr/>
          <p:nvPr/>
        </p:nvSpPr>
        <p:spPr>
          <a:xfrm rot="5400000">
            <a:off x="3446768" y="-560915"/>
            <a:ext cx="2279374" cy="9144000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6" name="Google Shape;646;p20"/>
          <p:cNvGrpSpPr/>
          <p:nvPr/>
        </p:nvGrpSpPr>
        <p:grpSpPr>
          <a:xfrm>
            <a:off x="142581" y="106326"/>
            <a:ext cx="2034014" cy="455075"/>
            <a:chOff x="142581" y="106326"/>
            <a:chExt cx="2034014" cy="455075"/>
          </a:xfrm>
        </p:grpSpPr>
        <p:pic>
          <p:nvPicPr>
            <p:cNvPr id="647" name="Google Shape;647;p20" title="Coordinadores horizonta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6075" y="192427"/>
              <a:ext cx="1030521" cy="282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8" name="Google Shape;648;p20" title="RLT Horizontal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2581" y="106326"/>
              <a:ext cx="902603" cy="455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49" name="Google Shape;649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6267" y="4594299"/>
            <a:ext cx="974858" cy="4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910c504689_3_295"/>
          <p:cNvSpPr txBox="1"/>
          <p:nvPr/>
        </p:nvSpPr>
        <p:spPr>
          <a:xfrm>
            <a:off x="1045185" y="249271"/>
            <a:ext cx="7088548" cy="958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2200" b="1" i="0" u="none" strike="noStrike" kern="0" cap="none" spc="0" normalizeH="0" baseline="0" noProof="0" dirty="0">
                <a:ln>
                  <a:noFill/>
                </a:ln>
                <a:solidFill>
                  <a:srgbClr val="E82D7E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Elementos de informe final individual de resultados</a:t>
            </a:r>
            <a:endParaRPr kumimoji="0" sz="2200" b="1" i="0" u="none" strike="noStrike" kern="0" cap="none" spc="0" normalizeH="0" baseline="0" noProof="0" dirty="0">
              <a:ln>
                <a:noFill/>
              </a:ln>
              <a:solidFill>
                <a:srgbClr val="E82D7E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7" name="Google Shape;657;g3910c504689_3_295" title="RLT Horizont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82" y="106327"/>
            <a:ext cx="902603" cy="45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g3910c504689_3_2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6267" y="4594300"/>
            <a:ext cx="974858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3910c504689_3_295"/>
          <p:cNvSpPr/>
          <p:nvPr/>
        </p:nvSpPr>
        <p:spPr>
          <a:xfrm>
            <a:off x="1749074" y="1308750"/>
            <a:ext cx="6997464" cy="5751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59" name="Google Shape;659;g3910c504689_3_295"/>
          <p:cNvSpPr/>
          <p:nvPr/>
        </p:nvSpPr>
        <p:spPr>
          <a:xfrm>
            <a:off x="271288" y="1308750"/>
            <a:ext cx="4513853" cy="5751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3" name="Google Shape;663;g3910c504689_3_295"/>
          <p:cNvSpPr/>
          <p:nvPr/>
        </p:nvSpPr>
        <p:spPr>
          <a:xfrm>
            <a:off x="1749074" y="1956160"/>
            <a:ext cx="6997463" cy="5751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6" name="Google Shape;666;g3910c504689_3_295"/>
          <p:cNvSpPr/>
          <p:nvPr/>
        </p:nvSpPr>
        <p:spPr>
          <a:xfrm>
            <a:off x="1749075" y="2561826"/>
            <a:ext cx="6997462" cy="5751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9" name="Google Shape;669;g3910c504689_3_295"/>
          <p:cNvSpPr/>
          <p:nvPr/>
        </p:nvSpPr>
        <p:spPr>
          <a:xfrm>
            <a:off x="1749074" y="3209236"/>
            <a:ext cx="6997461" cy="5751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2" name="Google Shape;672;g3910c504689_3_295"/>
          <p:cNvSpPr/>
          <p:nvPr/>
        </p:nvSpPr>
        <p:spPr>
          <a:xfrm>
            <a:off x="3365369" y="3856648"/>
            <a:ext cx="5381165" cy="5751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4" name="Google Shape;674;g3910c504689_3_295"/>
          <p:cNvSpPr txBox="1"/>
          <p:nvPr/>
        </p:nvSpPr>
        <p:spPr>
          <a:xfrm>
            <a:off x="268057" y="1175957"/>
            <a:ext cx="4612871" cy="69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Resultados encuesta 360 ponderada I y II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8" name="Google Shape;678;g3910c504689_3_295"/>
          <p:cNvSpPr txBox="1"/>
          <p:nvPr/>
        </p:nvSpPr>
        <p:spPr>
          <a:xfrm>
            <a:off x="4892511" y="1247654"/>
            <a:ext cx="4270342" cy="70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Línea de base y línea de salida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9" name="Google Shape;679;g3910c504689_3_295"/>
          <p:cNvSpPr txBox="1"/>
          <p:nvPr/>
        </p:nvSpPr>
        <p:spPr>
          <a:xfrm>
            <a:off x="4892514" y="1870370"/>
            <a:ext cx="4429055" cy="70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Rúbricas individuales de los cuatro módulos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0" name="Google Shape;680;g3910c504689_3_295"/>
          <p:cNvSpPr txBox="1"/>
          <p:nvPr/>
        </p:nvSpPr>
        <p:spPr>
          <a:xfrm>
            <a:off x="4892514" y="2475008"/>
            <a:ext cx="4447908" cy="70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Avances y retos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1" name="Google Shape;681;g3910c504689_3_295"/>
          <p:cNvSpPr txBox="1"/>
          <p:nvPr/>
        </p:nvSpPr>
        <p:spPr>
          <a:xfrm>
            <a:off x="4892515" y="3123134"/>
            <a:ext cx="4447907" cy="70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La gran apuesta de transformación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2" name="Google Shape;682;g3910c504689_3_295"/>
          <p:cNvSpPr txBox="1"/>
          <p:nvPr/>
        </p:nvSpPr>
        <p:spPr>
          <a:xfrm>
            <a:off x="4892515" y="3773896"/>
            <a:ext cx="4429052" cy="70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Para la sostenibilidad del liderazgo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2" name="Google Shape;662;g3910c504689_3_295"/>
          <p:cNvSpPr/>
          <p:nvPr/>
        </p:nvSpPr>
        <p:spPr>
          <a:xfrm>
            <a:off x="271288" y="1956160"/>
            <a:ext cx="4513853" cy="5751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5" name="Google Shape;675;g3910c504689_3_295"/>
          <p:cNvSpPr txBox="1"/>
          <p:nvPr/>
        </p:nvSpPr>
        <p:spPr>
          <a:xfrm>
            <a:off x="263341" y="1806437"/>
            <a:ext cx="3319280" cy="69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Resultado rúbricas por módulo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5" name="Google Shape;665;g3910c504689_3_295"/>
          <p:cNvSpPr/>
          <p:nvPr/>
        </p:nvSpPr>
        <p:spPr>
          <a:xfrm>
            <a:off x="271289" y="2561826"/>
            <a:ext cx="4513852" cy="5751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6" name="Google Shape;676;g3910c504689_3_295"/>
          <p:cNvSpPr txBox="1"/>
          <p:nvPr/>
        </p:nvSpPr>
        <p:spPr>
          <a:xfrm>
            <a:off x="272766" y="2418730"/>
            <a:ext cx="2370750" cy="69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Informe equipo local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g3910c504689_3_295"/>
          <p:cNvSpPr/>
          <p:nvPr/>
        </p:nvSpPr>
        <p:spPr>
          <a:xfrm>
            <a:off x="271288" y="3209236"/>
            <a:ext cx="4513851" cy="5751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7" name="Google Shape;677;g3910c504689_3_295"/>
          <p:cNvSpPr txBox="1"/>
          <p:nvPr/>
        </p:nvSpPr>
        <p:spPr>
          <a:xfrm>
            <a:off x="272765" y="2974117"/>
            <a:ext cx="4447907" cy="92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Reto estratégico de transformación institucional – RETI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g3910c504689_3_295"/>
          <p:cNvSpPr/>
          <p:nvPr/>
        </p:nvSpPr>
        <p:spPr>
          <a:xfrm>
            <a:off x="271286" y="3856648"/>
            <a:ext cx="4513851" cy="575100"/>
          </a:xfrm>
          <a:prstGeom prst="roundRect">
            <a:avLst>
              <a:gd name="adj" fmla="val 16667"/>
            </a:avLst>
          </a:prstGeom>
          <a:solidFill>
            <a:srgbClr val="E82D7E"/>
          </a:solidFill>
          <a:ln>
            <a:noFill/>
          </a:ln>
        </p:spPr>
        <p:txBody>
          <a:bodyPr spcFirstLastPara="1" wrap="square" lIns="97050" tIns="97050" rIns="97050" bIns="970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86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83" name="Google Shape;683;g3910c504689_3_295"/>
          <p:cNvSpPr txBox="1"/>
          <p:nvPr/>
        </p:nvSpPr>
        <p:spPr>
          <a:xfrm>
            <a:off x="261859" y="3717906"/>
            <a:ext cx="4447907" cy="69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Retos y proyecciones del directivo docentes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2"/>
          <p:cNvSpPr/>
          <p:nvPr/>
        </p:nvSpPr>
        <p:spPr>
          <a:xfrm rot="5400000">
            <a:off x="44689" y="-31759"/>
            <a:ext cx="5169360" cy="5258738"/>
          </a:xfrm>
          <a:prstGeom prst="rect">
            <a:avLst/>
          </a:prstGeom>
          <a:solidFill>
            <a:srgbClr val="F7F0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2"/>
          <p:cNvSpPr txBox="1">
            <a:spLocks noGrp="1"/>
          </p:cNvSpPr>
          <p:nvPr>
            <p:ph type="title"/>
          </p:nvPr>
        </p:nvSpPr>
        <p:spPr>
          <a:xfrm>
            <a:off x="797562" y="1906180"/>
            <a:ext cx="284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O" dirty="0">
                <a:solidFill>
                  <a:srgbClr val="E82D7E"/>
                </a:solidFill>
              </a:rPr>
              <a:t>COMENTARIOS Y CIERRE</a:t>
            </a:r>
            <a:endParaRPr dirty="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1" name="Google Shape;701;p22" descr="Un grupo de folletos sobre una mesa de madera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l="33040" t="-250" r="10306" b="250"/>
          <a:stretch/>
        </p:blipFill>
        <p:spPr>
          <a:xfrm>
            <a:off x="5258738" y="-12930"/>
            <a:ext cx="388526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8725" y="3246400"/>
            <a:ext cx="2462551" cy="114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23" descr="Patrón de fondo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99192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3"/>
          <p:cNvSpPr txBox="1">
            <a:spLocks noGrp="1"/>
          </p:cNvSpPr>
          <p:nvPr>
            <p:ph type="title"/>
          </p:nvPr>
        </p:nvSpPr>
        <p:spPr>
          <a:xfrm>
            <a:off x="4592275" y="1731664"/>
            <a:ext cx="284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4400">
                <a:solidFill>
                  <a:srgbClr val="E82D7E"/>
                </a:solidFill>
              </a:rPr>
              <a:t>GRACIAS</a:t>
            </a:r>
            <a:endParaRPr sz="4400">
              <a:solidFill>
                <a:srgbClr val="E82D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2787</TotalTime>
  <Words>1816</Words>
  <Application>Microsoft Macintosh PowerPoint</Application>
  <PresentationFormat>Presentación en pantalla (16:9)</PresentationFormat>
  <Paragraphs>310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Montserrat ExtraBold</vt:lpstr>
      <vt:lpstr>Montserrat</vt:lpstr>
      <vt:lpstr>Simple Light</vt:lpstr>
      <vt:lpstr>1_Simple Light</vt:lpstr>
      <vt:lpstr>Informe final de resultados RLT-CLT</vt:lpstr>
      <vt:lpstr>Agenda</vt:lpstr>
      <vt:lpstr>1. Estado final  del sistema de evaluación RLT y CLT</vt:lpstr>
      <vt:lpstr>Presentación de PowerPoint</vt:lpstr>
      <vt:lpstr>2. Caracterización de los  Directivos Docentes </vt:lpstr>
      <vt:lpstr>Presentación de PowerPoint</vt:lpstr>
      <vt:lpstr>Presentación de PowerPoint</vt:lpstr>
      <vt:lpstr>3. Rúbricas por módulo </vt:lpstr>
      <vt:lpstr>Módulo I “El valor de ser y de ser con otros”</vt:lpstr>
      <vt:lpstr>Módulo II “La reconquista pedagógica y el arte de acompañar a otros a aprender”</vt:lpstr>
      <vt:lpstr>Módulo III “Potenciando Tesoros”</vt:lpstr>
      <vt:lpstr>Módulo IV “Tejiendo Puentes”</vt:lpstr>
      <vt:lpstr>4. Proyecciones para la sostenibilidad del liderazgo</vt:lpstr>
      <vt:lpstr>Proyecciones para un liderazgo sostenible</vt:lpstr>
      <vt:lpstr>5. Indicadores satisfacción </vt:lpstr>
      <vt:lpstr>Presentación de PowerPoint</vt:lpstr>
      <vt:lpstr>6. Entrega de informes finales</vt:lpstr>
      <vt:lpstr>Presentación de PowerPoint</vt:lpstr>
      <vt:lpstr>COMENTARIOS Y CIERRE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Maribel Betancur Cortes</cp:lastModifiedBy>
  <cp:revision>38</cp:revision>
  <dcterms:modified xsi:type="dcterms:W3CDTF">2025-11-28T13:09:05Z</dcterms:modified>
</cp:coreProperties>
</file>